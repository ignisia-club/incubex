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 Bold" charset="1" panose="020B0800040000020004"/>
      <p:regular r:id="rId15"/>
    </p:embeddedFont>
    <p:embeddedFont>
      <p:font typeface="League Spartan" charset="1" panose="00000800000000000000"/>
      <p:regular r:id="rId16"/>
    </p:embeddedFont>
    <p:embeddedFont>
      <p:font typeface="Instrument Serif Italics" charset="1" panose="00000000000000000000"/>
      <p:regular r:id="rId17"/>
    </p:embeddedFont>
    <p:embeddedFont>
      <p:font typeface="Calibri (MS) Bold Italics" charset="1" panose="020F07020304040A0204"/>
      <p:regular r:id="rId18"/>
    </p:embeddedFont>
    <p:embeddedFont>
      <p:font typeface="Helvetica World" charset="1" panose="020B0500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53008" y="-5715"/>
            <a:ext cx="20041008" cy="11285593"/>
          </a:xfrm>
          <a:custGeom>
            <a:avLst/>
            <a:gdLst/>
            <a:ahLst/>
            <a:cxnLst/>
            <a:rect r="r" b="b" t="t" l="l"/>
            <a:pathLst>
              <a:path h="11285593" w="20041008">
                <a:moveTo>
                  <a:pt x="0" y="0"/>
                </a:moveTo>
                <a:lnTo>
                  <a:pt x="20041008" y="0"/>
                </a:lnTo>
                <a:lnTo>
                  <a:pt x="20041008" y="11285593"/>
                </a:lnTo>
                <a:lnTo>
                  <a:pt x="0" y="11285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72066" y="170381"/>
            <a:ext cx="2815713" cy="1392732"/>
            <a:chOff x="0" y="0"/>
            <a:chExt cx="5638800" cy="278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38800" cy="2789174"/>
            </a:xfrm>
            <a:custGeom>
              <a:avLst/>
              <a:gdLst/>
              <a:ahLst/>
              <a:cxnLst/>
              <a:rect r="r" b="b" t="t" l="l"/>
              <a:pathLst>
                <a:path h="2789174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2789174"/>
                  </a:lnTo>
                  <a:lnTo>
                    <a:pt x="0" y="2789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69" r="0" b="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043230" y="2425034"/>
            <a:ext cx="8095687" cy="672561"/>
            <a:chOff x="0" y="0"/>
            <a:chExt cx="10794249" cy="896747"/>
          </a:xfrm>
        </p:grpSpPr>
        <p:sp>
          <p:nvSpPr>
            <p:cNvPr name="AutoShape 6" id="6"/>
            <p:cNvSpPr/>
            <p:nvPr/>
          </p:nvSpPr>
          <p:spPr>
            <a:xfrm>
              <a:off x="0" y="448374"/>
              <a:ext cx="10323636" cy="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260840"/>
              <a:ext cx="1081709" cy="298867"/>
              <a:chOff x="0" y="0"/>
              <a:chExt cx="213671" cy="5903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3671" cy="59035"/>
              </a:xfrm>
              <a:custGeom>
                <a:avLst/>
                <a:gdLst/>
                <a:ahLst/>
                <a:cxnLst/>
                <a:rect r="r" b="b" t="t" l="l"/>
                <a:pathLst>
                  <a:path h="59035" w="213671">
                    <a:moveTo>
                      <a:pt x="29518" y="0"/>
                    </a:moveTo>
                    <a:lnTo>
                      <a:pt x="184153" y="0"/>
                    </a:lnTo>
                    <a:cubicBezTo>
                      <a:pt x="191982" y="0"/>
                      <a:pt x="199490" y="3110"/>
                      <a:pt x="205025" y="8646"/>
                    </a:cubicBezTo>
                    <a:cubicBezTo>
                      <a:pt x="210561" y="14181"/>
                      <a:pt x="213671" y="21689"/>
                      <a:pt x="213671" y="29518"/>
                    </a:cubicBezTo>
                    <a:lnTo>
                      <a:pt x="213671" y="29518"/>
                    </a:lnTo>
                    <a:cubicBezTo>
                      <a:pt x="213671" y="37346"/>
                      <a:pt x="210561" y="44854"/>
                      <a:pt x="205025" y="50390"/>
                    </a:cubicBezTo>
                    <a:cubicBezTo>
                      <a:pt x="199490" y="55926"/>
                      <a:pt x="191982" y="59035"/>
                      <a:pt x="184153" y="59035"/>
                    </a:cubicBezTo>
                    <a:lnTo>
                      <a:pt x="29518" y="59035"/>
                    </a:lnTo>
                    <a:cubicBezTo>
                      <a:pt x="21689" y="59035"/>
                      <a:pt x="14181" y="55926"/>
                      <a:pt x="8646" y="50390"/>
                    </a:cubicBezTo>
                    <a:cubicBezTo>
                      <a:pt x="3110" y="44854"/>
                      <a:pt x="0" y="37346"/>
                      <a:pt x="0" y="29518"/>
                    </a:cubicBezTo>
                    <a:lnTo>
                      <a:pt x="0" y="29518"/>
                    </a:lnTo>
                    <a:cubicBezTo>
                      <a:pt x="0" y="21689"/>
                      <a:pt x="3110" y="14181"/>
                      <a:pt x="8646" y="8646"/>
                    </a:cubicBezTo>
                    <a:cubicBezTo>
                      <a:pt x="14181" y="3110"/>
                      <a:pt x="21689" y="0"/>
                      <a:pt x="29518" y="0"/>
                    </a:cubicBezTo>
                    <a:close/>
                  </a:path>
                </a:pathLst>
              </a:custGeom>
              <a:solidFill>
                <a:srgbClr val="7771D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13671" cy="1066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89750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7" y="0"/>
                  </a:lnTo>
                  <a:lnTo>
                    <a:pt x="896747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129392" y="7016055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14865" y="7938545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00337" y="8861035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43920" y="6093565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499" y="0"/>
                </a:lnTo>
                <a:lnTo>
                  <a:pt x="285499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469116" y="4441903"/>
            <a:ext cx="10914590" cy="3588823"/>
            <a:chOff x="0" y="0"/>
            <a:chExt cx="14552787" cy="4785097"/>
          </a:xfrm>
        </p:grpSpPr>
        <p:grpSp>
          <p:nvGrpSpPr>
            <p:cNvPr name="Group 16" id="16"/>
            <p:cNvGrpSpPr/>
            <p:nvPr/>
          </p:nvGrpSpPr>
          <p:grpSpPr>
            <a:xfrm rot="5400000">
              <a:off x="-466138" y="466138"/>
              <a:ext cx="1081709" cy="149433"/>
              <a:chOff x="0" y="0"/>
              <a:chExt cx="213671" cy="2951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3671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13671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-466138" y="1687547"/>
              <a:ext cx="1081709" cy="149433"/>
              <a:chOff x="0" y="0"/>
              <a:chExt cx="213671" cy="2951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3671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13671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5400000">
              <a:off x="-466138" y="2908957"/>
              <a:ext cx="1081709" cy="149433"/>
              <a:chOff x="0" y="0"/>
              <a:chExt cx="213671" cy="2951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3671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13671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-466138" y="4130366"/>
              <a:ext cx="1081709" cy="149433"/>
              <a:chOff x="0" y="0"/>
              <a:chExt cx="213671" cy="2951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3671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13671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AutoShape 28" id="28"/>
            <p:cNvSpPr/>
            <p:nvPr/>
          </p:nvSpPr>
          <p:spPr>
            <a:xfrm>
              <a:off x="74717" y="2306073"/>
              <a:ext cx="14439331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94087" y="3536060"/>
              <a:ext cx="14439331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113456" y="4766047"/>
              <a:ext cx="14439331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74717" y="1076087"/>
              <a:ext cx="14439331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2" id="32"/>
            <p:cNvSpPr txBox="true"/>
            <p:nvPr/>
          </p:nvSpPr>
          <p:spPr>
            <a:xfrm rot="0">
              <a:off x="388685" y="126718"/>
              <a:ext cx="1848165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Track: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88685" y="1356705"/>
              <a:ext cx="2335488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Theme: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64732" y="2581625"/>
              <a:ext cx="1389910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Title: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39028" y="3815460"/>
              <a:ext cx="2669409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Team ID: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30000">
            <a:off x="3325738" y="1157269"/>
            <a:ext cx="1145049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2929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INCUBE</a:t>
            </a:r>
            <a:r>
              <a:rPr lang="en-US" sz="9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X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20008" y="286626"/>
            <a:ext cx="3523222" cy="88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i="true">
                <a:solidFill>
                  <a:srgbClr val="39ACA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Ignisia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97445" y="291865"/>
            <a:ext cx="923925" cy="981075"/>
            <a:chOff x="0" y="0"/>
            <a:chExt cx="1231900" cy="1308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319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231900">
                  <a:moveTo>
                    <a:pt x="0" y="0"/>
                  </a:moveTo>
                  <a:lnTo>
                    <a:pt x="1231900" y="0"/>
                  </a:lnTo>
                  <a:lnTo>
                    <a:pt x="12319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188" t="0" r="-141234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874986" y="1109996"/>
            <a:ext cx="966235" cy="15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7"/>
              </a:lnSpc>
            </a:pPr>
            <a:r>
              <a:rPr lang="en-US" b="true" sz="784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THINK. </a:t>
            </a:r>
            <a:r>
              <a:rPr lang="en-US" b="true" sz="784" i="true">
                <a:solidFill>
                  <a:srgbClr val="39ACA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BUILD.</a:t>
            </a:r>
            <a:r>
              <a:rPr lang="en-US" b="true" sz="784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EVOLVE.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86846" y="3554795"/>
            <a:ext cx="4726781" cy="38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48484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Fill in the details below about your idea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839185" y="8538370"/>
            <a:ext cx="12666780" cy="1741589"/>
            <a:chOff x="0" y="0"/>
            <a:chExt cx="16889040" cy="23221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874065" y="458896"/>
              <a:ext cx="2720777" cy="1510640"/>
            </a:xfrm>
            <a:custGeom>
              <a:avLst/>
              <a:gdLst/>
              <a:ahLst/>
              <a:cxnLst/>
              <a:rect r="r" b="b" t="t" l="l"/>
              <a:pathLst>
                <a:path h="1510640" w="2720777">
                  <a:moveTo>
                    <a:pt x="0" y="0"/>
                  </a:moveTo>
                  <a:lnTo>
                    <a:pt x="2720777" y="0"/>
                  </a:lnTo>
                  <a:lnTo>
                    <a:pt x="2720777" y="1510640"/>
                  </a:lnTo>
                  <a:lnTo>
                    <a:pt x="0" y="15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974120" y="800398"/>
              <a:ext cx="1917690" cy="827635"/>
            </a:xfrm>
            <a:custGeom>
              <a:avLst/>
              <a:gdLst/>
              <a:ahLst/>
              <a:cxnLst/>
              <a:rect r="r" b="b" t="t" l="l"/>
              <a:pathLst>
                <a:path h="827635" w="1917690">
                  <a:moveTo>
                    <a:pt x="0" y="0"/>
                  </a:moveTo>
                  <a:lnTo>
                    <a:pt x="1917691" y="0"/>
                  </a:lnTo>
                  <a:lnTo>
                    <a:pt x="1917691" y="827635"/>
                  </a:lnTo>
                  <a:lnTo>
                    <a:pt x="0" y="827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5457558" y="751869"/>
              <a:ext cx="958787" cy="829512"/>
            </a:xfrm>
            <a:custGeom>
              <a:avLst/>
              <a:gdLst/>
              <a:ahLst/>
              <a:cxnLst/>
              <a:rect r="r" b="b" t="t" l="l"/>
              <a:pathLst>
                <a:path h="829512" w="958787">
                  <a:moveTo>
                    <a:pt x="0" y="0"/>
                  </a:moveTo>
                  <a:lnTo>
                    <a:pt x="958787" y="0"/>
                  </a:lnTo>
                  <a:lnTo>
                    <a:pt x="958787" y="829512"/>
                  </a:lnTo>
                  <a:lnTo>
                    <a:pt x="0" y="82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0368290" y="702921"/>
              <a:ext cx="2260785" cy="962483"/>
            </a:xfrm>
            <a:custGeom>
              <a:avLst/>
              <a:gdLst/>
              <a:ahLst/>
              <a:cxnLst/>
              <a:rect r="r" b="b" t="t" l="l"/>
              <a:pathLst>
                <a:path h="962483" w="2260785">
                  <a:moveTo>
                    <a:pt x="0" y="0"/>
                  </a:moveTo>
                  <a:lnTo>
                    <a:pt x="2260785" y="0"/>
                  </a:lnTo>
                  <a:lnTo>
                    <a:pt x="2260785" y="962483"/>
                  </a:lnTo>
                  <a:lnTo>
                    <a:pt x="0" y="962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3158" r="0" b="-43061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22119" cy="2322119"/>
            </a:xfrm>
            <a:custGeom>
              <a:avLst/>
              <a:gdLst/>
              <a:ahLst/>
              <a:cxnLst/>
              <a:rect r="r" b="b" t="t" l="l"/>
              <a:pathLst>
                <a:path h="2322119" w="2322119">
                  <a:moveTo>
                    <a:pt x="0" y="0"/>
                  </a:moveTo>
                  <a:lnTo>
                    <a:pt x="2322119" y="0"/>
                  </a:lnTo>
                  <a:lnTo>
                    <a:pt x="2322119" y="2322119"/>
                  </a:lnTo>
                  <a:lnTo>
                    <a:pt x="0" y="2322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AutoShape 48" id="48"/>
            <p:cNvSpPr/>
            <p:nvPr/>
          </p:nvSpPr>
          <p:spPr>
            <a:xfrm flipV="true">
              <a:off x="53951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V="true">
              <a:off x="2500695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V="true">
              <a:off x="5575373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V="true">
              <a:off x="8676642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10162290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3431975" y="800398"/>
              <a:ext cx="780983" cy="780983"/>
            </a:xfrm>
            <a:custGeom>
              <a:avLst/>
              <a:gdLst/>
              <a:ahLst/>
              <a:cxnLst/>
              <a:rect r="r" b="b" t="t" l="l"/>
              <a:pathLst>
                <a:path h="780983" w="780983">
                  <a:moveTo>
                    <a:pt x="0" y="0"/>
                  </a:moveTo>
                  <a:lnTo>
                    <a:pt x="780983" y="0"/>
                  </a:lnTo>
                  <a:lnTo>
                    <a:pt x="780983" y="780983"/>
                  </a:lnTo>
                  <a:lnTo>
                    <a:pt x="0" y="780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AutoShape 54" id="54"/>
            <p:cNvSpPr/>
            <p:nvPr/>
          </p:nvSpPr>
          <p:spPr>
            <a:xfrm flipV="true">
              <a:off x="12806875" y="747242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8952492" y="747242"/>
              <a:ext cx="933948" cy="933948"/>
            </a:xfrm>
            <a:custGeom>
              <a:avLst/>
              <a:gdLst/>
              <a:ahLst/>
              <a:cxnLst/>
              <a:rect r="r" b="b" t="t" l="l"/>
              <a:pathLst>
                <a:path h="933948" w="933948">
                  <a:moveTo>
                    <a:pt x="0" y="0"/>
                  </a:moveTo>
                  <a:lnTo>
                    <a:pt x="933948" y="0"/>
                  </a:lnTo>
                  <a:lnTo>
                    <a:pt x="933948" y="933948"/>
                  </a:lnTo>
                  <a:lnTo>
                    <a:pt x="0" y="933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AutoShape 56" id="56"/>
            <p:cNvSpPr/>
            <p:nvPr/>
          </p:nvSpPr>
          <p:spPr>
            <a:xfrm flipV="true">
              <a:off x="14835258" y="747242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V="true">
              <a:off x="16863640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678" y="-11430"/>
            <a:ext cx="18681678" cy="10531796"/>
          </a:xfrm>
          <a:custGeom>
            <a:avLst/>
            <a:gdLst/>
            <a:ahLst/>
            <a:cxnLst/>
            <a:rect r="r" b="b" t="t" l="l"/>
            <a:pathLst>
              <a:path h="10531796" w="18681678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252" y="1453052"/>
            <a:ext cx="17221495" cy="9525"/>
            <a:chOff x="0" y="0"/>
            <a:chExt cx="17221505" cy="9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21459" cy="9525"/>
            </a:xfrm>
            <a:custGeom>
              <a:avLst/>
              <a:gdLst/>
              <a:ahLst/>
              <a:cxnLst/>
              <a:rect r="r" b="b" t="t" l="l"/>
              <a:pathLst>
                <a:path h="9525" w="17221459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-31603">
            <a:off x="525527" y="1736596"/>
            <a:ext cx="17221495" cy="9525"/>
            <a:chOff x="0" y="0"/>
            <a:chExt cx="17221505" cy="9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21459" cy="9525"/>
            </a:xfrm>
            <a:custGeom>
              <a:avLst/>
              <a:gdLst/>
              <a:ahLst/>
              <a:cxnLst/>
              <a:rect r="r" b="b" t="t" l="l"/>
              <a:pathLst>
                <a:path h="9525" w="17221459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313446" y="3436538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71985" y="3436538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2728375" y="3575071"/>
            <a:ext cx="4768592" cy="4217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034205" y="297395"/>
            <a:ext cx="925524" cy="963762"/>
          </a:xfrm>
          <a:custGeom>
            <a:avLst/>
            <a:gdLst/>
            <a:ahLst/>
            <a:cxnLst/>
            <a:rect r="r" b="b" t="t" l="l"/>
            <a:pathLst>
              <a:path h="963762" w="925524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247" t="-5733" r="-14720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55260" y="480122"/>
            <a:ext cx="1567894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and limitations of existing solutions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411297" y="3575071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5400000">
            <a:off x="894069" y="3006023"/>
            <a:ext cx="1034456" cy="112075"/>
            <a:chOff x="0" y="0"/>
            <a:chExt cx="272449" cy="295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2449" cy="29518"/>
            </a:xfrm>
            <a:custGeom>
              <a:avLst/>
              <a:gdLst/>
              <a:ahLst/>
              <a:cxnLst/>
              <a:rect r="r" b="b" t="t" l="l"/>
              <a:pathLst>
                <a:path h="29518" w="272449">
                  <a:moveTo>
                    <a:pt x="14759" y="0"/>
                  </a:moveTo>
                  <a:lnTo>
                    <a:pt x="257690" y="0"/>
                  </a:lnTo>
                  <a:cubicBezTo>
                    <a:pt x="261605" y="0"/>
                    <a:pt x="265359" y="1555"/>
                    <a:pt x="268127" y="4323"/>
                  </a:cubicBezTo>
                  <a:cubicBezTo>
                    <a:pt x="270894" y="7091"/>
                    <a:pt x="272449" y="10845"/>
                    <a:pt x="272449" y="14759"/>
                  </a:cubicBezTo>
                  <a:lnTo>
                    <a:pt x="272449" y="14759"/>
                  </a:lnTo>
                  <a:cubicBezTo>
                    <a:pt x="272449" y="18673"/>
                    <a:pt x="270894" y="22427"/>
                    <a:pt x="268127" y="25195"/>
                  </a:cubicBezTo>
                  <a:cubicBezTo>
                    <a:pt x="265359" y="27963"/>
                    <a:pt x="261605" y="29518"/>
                    <a:pt x="257690" y="29518"/>
                  </a:cubicBezTo>
                  <a:lnTo>
                    <a:pt x="14759" y="29518"/>
                  </a:lnTo>
                  <a:cubicBezTo>
                    <a:pt x="10845" y="29518"/>
                    <a:pt x="7091" y="27963"/>
                    <a:pt x="4323" y="25195"/>
                  </a:cubicBezTo>
                  <a:cubicBezTo>
                    <a:pt x="1555" y="22427"/>
                    <a:pt x="0" y="18673"/>
                    <a:pt x="0" y="14759"/>
                  </a:cubicBezTo>
                  <a:lnTo>
                    <a:pt x="0" y="14759"/>
                  </a:lnTo>
                  <a:cubicBezTo>
                    <a:pt x="0" y="10845"/>
                    <a:pt x="1555" y="7091"/>
                    <a:pt x="4323" y="4323"/>
                  </a:cubicBezTo>
                  <a:cubicBezTo>
                    <a:pt x="7091" y="1555"/>
                    <a:pt x="10845" y="0"/>
                    <a:pt x="14759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72449" cy="77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7069836" y="3575071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5400000">
            <a:off x="6549109" y="3002524"/>
            <a:ext cx="1034456" cy="119073"/>
            <a:chOff x="0" y="0"/>
            <a:chExt cx="272449" cy="313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2449" cy="31361"/>
            </a:xfrm>
            <a:custGeom>
              <a:avLst/>
              <a:gdLst/>
              <a:ahLst/>
              <a:cxnLst/>
              <a:rect r="r" b="b" t="t" l="l"/>
              <a:pathLst>
                <a:path h="31361" w="272449">
                  <a:moveTo>
                    <a:pt x="15680" y="0"/>
                  </a:moveTo>
                  <a:lnTo>
                    <a:pt x="256769" y="0"/>
                  </a:lnTo>
                  <a:cubicBezTo>
                    <a:pt x="260928" y="0"/>
                    <a:pt x="264916" y="1652"/>
                    <a:pt x="267857" y="4593"/>
                  </a:cubicBezTo>
                  <a:cubicBezTo>
                    <a:pt x="270797" y="7533"/>
                    <a:pt x="272449" y="11522"/>
                    <a:pt x="272449" y="15680"/>
                  </a:cubicBezTo>
                  <a:lnTo>
                    <a:pt x="272449" y="15680"/>
                  </a:lnTo>
                  <a:cubicBezTo>
                    <a:pt x="272449" y="19839"/>
                    <a:pt x="270797" y="23827"/>
                    <a:pt x="267857" y="26768"/>
                  </a:cubicBezTo>
                  <a:cubicBezTo>
                    <a:pt x="264916" y="29709"/>
                    <a:pt x="260928" y="31361"/>
                    <a:pt x="256769" y="31361"/>
                  </a:cubicBezTo>
                  <a:lnTo>
                    <a:pt x="15680" y="31361"/>
                  </a:lnTo>
                  <a:cubicBezTo>
                    <a:pt x="11522" y="31361"/>
                    <a:pt x="7533" y="29709"/>
                    <a:pt x="4593" y="26768"/>
                  </a:cubicBezTo>
                  <a:cubicBezTo>
                    <a:pt x="1652" y="23827"/>
                    <a:pt x="0" y="19839"/>
                    <a:pt x="0" y="15680"/>
                  </a:cubicBezTo>
                  <a:lnTo>
                    <a:pt x="0" y="15680"/>
                  </a:lnTo>
                  <a:cubicBezTo>
                    <a:pt x="0" y="11522"/>
                    <a:pt x="1652" y="7533"/>
                    <a:pt x="4593" y="4593"/>
                  </a:cubicBezTo>
                  <a:cubicBezTo>
                    <a:pt x="7533" y="1652"/>
                    <a:pt x="11522" y="0"/>
                    <a:pt x="15680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72449" cy="78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2215782" y="3001388"/>
            <a:ext cx="1034456" cy="121345"/>
            <a:chOff x="0" y="0"/>
            <a:chExt cx="272449" cy="319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2449" cy="31959"/>
            </a:xfrm>
            <a:custGeom>
              <a:avLst/>
              <a:gdLst/>
              <a:ahLst/>
              <a:cxnLst/>
              <a:rect r="r" b="b" t="t" l="l"/>
              <a:pathLst>
                <a:path h="31959" w="272449">
                  <a:moveTo>
                    <a:pt x="15980" y="0"/>
                  </a:moveTo>
                  <a:lnTo>
                    <a:pt x="256470" y="0"/>
                  </a:lnTo>
                  <a:cubicBezTo>
                    <a:pt x="260708" y="0"/>
                    <a:pt x="264772" y="1684"/>
                    <a:pt x="267769" y="4680"/>
                  </a:cubicBezTo>
                  <a:cubicBezTo>
                    <a:pt x="270766" y="7677"/>
                    <a:pt x="272449" y="11742"/>
                    <a:pt x="272449" y="15980"/>
                  </a:cubicBezTo>
                  <a:lnTo>
                    <a:pt x="272449" y="15980"/>
                  </a:lnTo>
                  <a:cubicBezTo>
                    <a:pt x="272449" y="24805"/>
                    <a:pt x="265295" y="31959"/>
                    <a:pt x="256470" y="31959"/>
                  </a:cubicBezTo>
                  <a:lnTo>
                    <a:pt x="15980" y="31959"/>
                  </a:lnTo>
                  <a:cubicBezTo>
                    <a:pt x="7154" y="31959"/>
                    <a:pt x="0" y="24805"/>
                    <a:pt x="0" y="15980"/>
                  </a:cubicBezTo>
                  <a:lnTo>
                    <a:pt x="0" y="15980"/>
                  </a:lnTo>
                  <a:cubicBezTo>
                    <a:pt x="0" y="7154"/>
                    <a:pt x="7154" y="0"/>
                    <a:pt x="15980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72449" cy="79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845052" y="2709807"/>
            <a:ext cx="3264102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6605" y="4127486"/>
            <a:ext cx="4000996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Explain Your  Problem Statement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67053" y="2741823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Need and Background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65815" y="4137011"/>
            <a:ext cx="3739654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Explain Need and Background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45595" y="2487682"/>
            <a:ext cx="5009152" cy="101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Existing solutions and their limitations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46571" y="4203686"/>
            <a:ext cx="3573102" cy="116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List existing solutions and their limitations</a:t>
            </a:r>
          </a:p>
          <a:p>
            <a:pPr algn="ctr">
              <a:lnSpc>
                <a:spcPts val="3080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1028661" y="1321157"/>
            <a:ext cx="16903200" cy="672561"/>
            <a:chOff x="0" y="0"/>
            <a:chExt cx="22537600" cy="896747"/>
          </a:xfrm>
        </p:grpSpPr>
        <p:sp>
          <p:nvSpPr>
            <p:cNvPr name="AutoShape 30" id="30"/>
            <p:cNvSpPr/>
            <p:nvPr/>
          </p:nvSpPr>
          <p:spPr>
            <a:xfrm>
              <a:off x="49" y="411875"/>
              <a:ext cx="22290554" cy="42849"/>
            </a:xfrm>
            <a:prstGeom prst="line">
              <a:avLst/>
            </a:prstGeom>
            <a:ln cap="flat" w="50800">
              <a:solidFill>
                <a:srgbClr val="6E2AF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164085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8" y="0"/>
                  </a:lnTo>
                  <a:lnTo>
                    <a:pt x="896748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7354217" y="3432321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678" y="-11430"/>
            <a:ext cx="18681678" cy="10531796"/>
          </a:xfrm>
          <a:custGeom>
            <a:avLst/>
            <a:gdLst/>
            <a:ahLst/>
            <a:cxnLst/>
            <a:rect r="r" b="b" t="t" l="l"/>
            <a:pathLst>
              <a:path h="10531796" w="18681678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252" y="1453052"/>
            <a:ext cx="17221495" cy="9525"/>
            <a:chOff x="0" y="0"/>
            <a:chExt cx="17221505" cy="9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21459" cy="9525"/>
            </a:xfrm>
            <a:custGeom>
              <a:avLst/>
              <a:gdLst/>
              <a:ahLst/>
              <a:cxnLst/>
              <a:rect r="r" b="b" t="t" l="l"/>
              <a:pathLst>
                <a:path h="9525" w="17221459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-31603">
            <a:off x="525527" y="1736596"/>
            <a:ext cx="17221495" cy="9525"/>
            <a:chOff x="0" y="0"/>
            <a:chExt cx="17221505" cy="9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21459" cy="9525"/>
            </a:xfrm>
            <a:custGeom>
              <a:avLst/>
              <a:gdLst/>
              <a:ahLst/>
              <a:cxnLst/>
              <a:rect r="r" b="b" t="t" l="l"/>
              <a:pathLst>
                <a:path h="9525" w="17221459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11993" y="3436538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34205" y="297395"/>
            <a:ext cx="925524" cy="963762"/>
          </a:xfrm>
          <a:custGeom>
            <a:avLst/>
            <a:gdLst/>
            <a:ahLst/>
            <a:cxnLst/>
            <a:rect r="r" b="b" t="t" l="l"/>
            <a:pathLst>
              <a:path h="963762" w="925524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247" t="-5733" r="-14720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5260" y="480122"/>
            <a:ext cx="1520507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Solutions and it’s USP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55260" y="2544832"/>
            <a:ext cx="4243686" cy="1177206"/>
            <a:chOff x="0" y="0"/>
            <a:chExt cx="5658248" cy="1569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277582" y="1188941"/>
              <a:ext cx="380667" cy="380667"/>
            </a:xfrm>
            <a:custGeom>
              <a:avLst/>
              <a:gdLst/>
              <a:ahLst/>
              <a:cxnLst/>
              <a:rect r="r" b="b" t="t" l="l"/>
              <a:pathLst>
                <a:path h="380667" w="380667">
                  <a:moveTo>
                    <a:pt x="0" y="0"/>
                  </a:moveTo>
                  <a:lnTo>
                    <a:pt x="380666" y="0"/>
                  </a:lnTo>
                  <a:lnTo>
                    <a:pt x="380666" y="380667"/>
                  </a:lnTo>
                  <a:lnTo>
                    <a:pt x="0" y="38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2" id="12"/>
            <p:cNvSpPr/>
            <p:nvPr/>
          </p:nvSpPr>
          <p:spPr>
            <a:xfrm>
              <a:off x="74717" y="1373652"/>
              <a:ext cx="5393198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5400000">
              <a:off x="-614921" y="614921"/>
              <a:ext cx="1379275" cy="149433"/>
              <a:chOff x="0" y="0"/>
              <a:chExt cx="272449" cy="2951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2449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72449">
                    <a:moveTo>
                      <a:pt x="14759" y="0"/>
                    </a:moveTo>
                    <a:lnTo>
                      <a:pt x="257690" y="0"/>
                    </a:lnTo>
                    <a:cubicBezTo>
                      <a:pt x="261605" y="0"/>
                      <a:pt x="265359" y="1555"/>
                      <a:pt x="268127" y="4323"/>
                    </a:cubicBezTo>
                    <a:cubicBezTo>
                      <a:pt x="270894" y="7091"/>
                      <a:pt x="272449" y="10845"/>
                      <a:pt x="272449" y="14759"/>
                    </a:cubicBezTo>
                    <a:lnTo>
                      <a:pt x="272449" y="14759"/>
                    </a:lnTo>
                    <a:cubicBezTo>
                      <a:pt x="272449" y="18673"/>
                      <a:pt x="270894" y="22427"/>
                      <a:pt x="268127" y="25195"/>
                    </a:cubicBezTo>
                    <a:cubicBezTo>
                      <a:pt x="265359" y="27963"/>
                      <a:pt x="261605" y="29518"/>
                      <a:pt x="257690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72449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</p:grpSp>
      <p:sp>
        <p:nvSpPr>
          <p:cNvPr name="AutoShape 16" id="16"/>
          <p:cNvSpPr/>
          <p:nvPr/>
        </p:nvSpPr>
        <p:spPr>
          <a:xfrm>
            <a:off x="11509844" y="3575071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5400000">
            <a:off x="10989117" y="3002524"/>
            <a:ext cx="1034456" cy="119073"/>
            <a:chOff x="0" y="0"/>
            <a:chExt cx="272449" cy="313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2449" cy="31361"/>
            </a:xfrm>
            <a:custGeom>
              <a:avLst/>
              <a:gdLst/>
              <a:ahLst/>
              <a:cxnLst/>
              <a:rect r="r" b="b" t="t" l="l"/>
              <a:pathLst>
                <a:path h="31361" w="272449">
                  <a:moveTo>
                    <a:pt x="15680" y="0"/>
                  </a:moveTo>
                  <a:lnTo>
                    <a:pt x="256769" y="0"/>
                  </a:lnTo>
                  <a:cubicBezTo>
                    <a:pt x="260928" y="0"/>
                    <a:pt x="264916" y="1652"/>
                    <a:pt x="267857" y="4593"/>
                  </a:cubicBezTo>
                  <a:cubicBezTo>
                    <a:pt x="270797" y="7533"/>
                    <a:pt x="272449" y="11522"/>
                    <a:pt x="272449" y="15680"/>
                  </a:cubicBezTo>
                  <a:lnTo>
                    <a:pt x="272449" y="15680"/>
                  </a:lnTo>
                  <a:cubicBezTo>
                    <a:pt x="272449" y="19839"/>
                    <a:pt x="270797" y="23827"/>
                    <a:pt x="267857" y="26768"/>
                  </a:cubicBezTo>
                  <a:cubicBezTo>
                    <a:pt x="264916" y="29709"/>
                    <a:pt x="260928" y="31361"/>
                    <a:pt x="256769" y="31361"/>
                  </a:cubicBezTo>
                  <a:lnTo>
                    <a:pt x="15680" y="31361"/>
                  </a:lnTo>
                  <a:cubicBezTo>
                    <a:pt x="11522" y="31361"/>
                    <a:pt x="7533" y="29709"/>
                    <a:pt x="4593" y="26768"/>
                  </a:cubicBezTo>
                  <a:cubicBezTo>
                    <a:pt x="1652" y="23827"/>
                    <a:pt x="0" y="19839"/>
                    <a:pt x="0" y="15680"/>
                  </a:cubicBezTo>
                  <a:lnTo>
                    <a:pt x="0" y="15680"/>
                  </a:lnTo>
                  <a:cubicBezTo>
                    <a:pt x="0" y="11522"/>
                    <a:pt x="1652" y="7533"/>
                    <a:pt x="4593" y="4593"/>
                  </a:cubicBezTo>
                  <a:cubicBezTo>
                    <a:pt x="7533" y="1652"/>
                    <a:pt x="11522" y="0"/>
                    <a:pt x="15680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72449" cy="78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45052" y="2709807"/>
            <a:ext cx="361114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 Description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07061" y="2741823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Features &amp; USP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661" y="1321157"/>
            <a:ext cx="16903200" cy="672561"/>
            <a:chOff x="0" y="0"/>
            <a:chExt cx="22537600" cy="896747"/>
          </a:xfrm>
        </p:grpSpPr>
        <p:sp>
          <p:nvSpPr>
            <p:cNvPr name="AutoShape 23" id="23"/>
            <p:cNvSpPr/>
            <p:nvPr/>
          </p:nvSpPr>
          <p:spPr>
            <a:xfrm>
              <a:off x="49" y="411875"/>
              <a:ext cx="22290554" cy="42849"/>
            </a:xfrm>
            <a:prstGeom prst="line">
              <a:avLst/>
            </a:prstGeom>
            <a:ln cap="flat" w="50800">
              <a:solidFill>
                <a:srgbClr val="6E2AF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164085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8" y="0"/>
                  </a:lnTo>
                  <a:lnTo>
                    <a:pt x="896748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678" y="-11430"/>
            <a:ext cx="18681678" cy="10531796"/>
          </a:xfrm>
          <a:custGeom>
            <a:avLst/>
            <a:gdLst/>
            <a:ahLst/>
            <a:cxnLst/>
            <a:rect r="r" b="b" t="t" l="l"/>
            <a:pathLst>
              <a:path h="10531796" w="18681678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8244" y="625366"/>
            <a:ext cx="15705944" cy="55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6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Working of the Solution/Architecture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034205" y="297395"/>
            <a:ext cx="925524" cy="963762"/>
          </a:xfrm>
          <a:custGeom>
            <a:avLst/>
            <a:gdLst/>
            <a:ahLst/>
            <a:cxnLst/>
            <a:rect r="r" b="b" t="t" l="l"/>
            <a:pathLst>
              <a:path h="963762" w="925524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7" t="-5733" r="-147202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661" y="1321157"/>
            <a:ext cx="16903200" cy="672561"/>
            <a:chOff x="0" y="0"/>
            <a:chExt cx="22537600" cy="896747"/>
          </a:xfrm>
        </p:grpSpPr>
        <p:sp>
          <p:nvSpPr>
            <p:cNvPr name="AutoShape 6" id="6"/>
            <p:cNvSpPr/>
            <p:nvPr/>
          </p:nvSpPr>
          <p:spPr>
            <a:xfrm>
              <a:off x="49" y="411875"/>
              <a:ext cx="22290554" cy="42849"/>
            </a:xfrm>
            <a:prstGeom prst="line">
              <a:avLst/>
            </a:prstGeom>
            <a:ln cap="flat" w="50800">
              <a:solidFill>
                <a:srgbClr val="6E2AF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64085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8" y="0"/>
                  </a:lnTo>
                  <a:lnTo>
                    <a:pt x="896748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015234" y="4672502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113085" y="4811035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5400000">
            <a:off x="771366" y="4417495"/>
            <a:ext cx="646421" cy="149091"/>
            <a:chOff x="0" y="0"/>
            <a:chExt cx="170251" cy="39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251" cy="39267"/>
            </a:xfrm>
            <a:custGeom>
              <a:avLst/>
              <a:gdLst/>
              <a:ahLst/>
              <a:cxnLst/>
              <a:rect r="r" b="b" t="t" l="l"/>
              <a:pathLst>
                <a:path h="39267" w="170251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9065" y="4191093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400561" y="4672502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6498412" y="4811035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5400000">
            <a:off x="6156693" y="4417495"/>
            <a:ext cx="646421" cy="149091"/>
            <a:chOff x="0" y="0"/>
            <a:chExt cx="170251" cy="392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251" cy="39267"/>
            </a:xfrm>
            <a:custGeom>
              <a:avLst/>
              <a:gdLst/>
              <a:ahLst/>
              <a:cxnLst/>
              <a:rect r="r" b="b" t="t" l="l"/>
              <a:pathLst>
                <a:path h="39267" w="170251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054392" y="4140255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Demo Images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677943" y="4701077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11775794" y="4839610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5400000">
            <a:off x="11434075" y="4446070"/>
            <a:ext cx="646421" cy="149091"/>
            <a:chOff x="0" y="0"/>
            <a:chExt cx="170251" cy="392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251" cy="39267"/>
            </a:xfrm>
            <a:custGeom>
              <a:avLst/>
              <a:gdLst/>
              <a:ahLst/>
              <a:cxnLst/>
              <a:rect r="r" b="b" t="t" l="l"/>
              <a:pathLst>
                <a:path h="39267" w="170251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211119" y="4168830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661" y="1836079"/>
            <a:ext cx="12211663" cy="1944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37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Methodology and Flowcharts ~removable text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37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Implementation Process, Technologies (languages, frameworks, devices etc.) ~removable text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37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Optional: Images, Demo screenshots, Demo link ~removable text</a:t>
            </a:r>
          </a:p>
          <a:p>
            <a:pPr algn="l">
              <a:lnSpc>
                <a:spcPts val="3080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028661" y="1883704"/>
            <a:ext cx="1156034" cy="110014"/>
            <a:chOff x="0" y="0"/>
            <a:chExt cx="304470" cy="289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4470" cy="28975"/>
            </a:xfrm>
            <a:custGeom>
              <a:avLst/>
              <a:gdLst/>
              <a:ahLst/>
              <a:cxnLst/>
              <a:rect r="r" b="b" t="t" l="l"/>
              <a:pathLst>
                <a:path h="28975" w="304470">
                  <a:moveTo>
                    <a:pt x="14487" y="0"/>
                  </a:moveTo>
                  <a:lnTo>
                    <a:pt x="289982" y="0"/>
                  </a:lnTo>
                  <a:cubicBezTo>
                    <a:pt x="297984" y="0"/>
                    <a:pt x="304470" y="6486"/>
                    <a:pt x="304470" y="14487"/>
                  </a:cubicBezTo>
                  <a:lnTo>
                    <a:pt x="304470" y="14487"/>
                  </a:lnTo>
                  <a:cubicBezTo>
                    <a:pt x="304470" y="22489"/>
                    <a:pt x="297984" y="28975"/>
                    <a:pt x="289982" y="28975"/>
                  </a:cubicBezTo>
                  <a:lnTo>
                    <a:pt x="14487" y="28975"/>
                  </a:lnTo>
                  <a:cubicBezTo>
                    <a:pt x="6486" y="28975"/>
                    <a:pt x="0" y="22489"/>
                    <a:pt x="0" y="14487"/>
                  </a:cubicBezTo>
                  <a:lnTo>
                    <a:pt x="0" y="14487"/>
                  </a:lnTo>
                  <a:cubicBezTo>
                    <a:pt x="0" y="6486"/>
                    <a:pt x="6486" y="0"/>
                    <a:pt x="14487" y="0"/>
                  </a:cubicBezTo>
                  <a:close/>
                </a:path>
              </a:pathLst>
            </a:custGeom>
            <a:solidFill>
              <a:srgbClr val="B58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04470" cy="7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661" y="3725442"/>
            <a:ext cx="1156034" cy="110014"/>
            <a:chOff x="0" y="0"/>
            <a:chExt cx="304470" cy="289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470" cy="28975"/>
            </a:xfrm>
            <a:custGeom>
              <a:avLst/>
              <a:gdLst/>
              <a:ahLst/>
              <a:cxnLst/>
              <a:rect r="r" b="b" t="t" l="l"/>
              <a:pathLst>
                <a:path h="28975" w="304470">
                  <a:moveTo>
                    <a:pt x="14487" y="0"/>
                  </a:moveTo>
                  <a:lnTo>
                    <a:pt x="289982" y="0"/>
                  </a:lnTo>
                  <a:cubicBezTo>
                    <a:pt x="297984" y="0"/>
                    <a:pt x="304470" y="6486"/>
                    <a:pt x="304470" y="14487"/>
                  </a:cubicBezTo>
                  <a:lnTo>
                    <a:pt x="304470" y="14487"/>
                  </a:lnTo>
                  <a:cubicBezTo>
                    <a:pt x="304470" y="22489"/>
                    <a:pt x="297984" y="28975"/>
                    <a:pt x="289982" y="28975"/>
                  </a:cubicBezTo>
                  <a:lnTo>
                    <a:pt x="14487" y="28975"/>
                  </a:lnTo>
                  <a:cubicBezTo>
                    <a:pt x="6486" y="28975"/>
                    <a:pt x="0" y="22489"/>
                    <a:pt x="0" y="14487"/>
                  </a:cubicBezTo>
                  <a:lnTo>
                    <a:pt x="0" y="14487"/>
                  </a:lnTo>
                  <a:cubicBezTo>
                    <a:pt x="0" y="6486"/>
                    <a:pt x="6486" y="0"/>
                    <a:pt x="14487" y="0"/>
                  </a:cubicBezTo>
                  <a:close/>
                </a:path>
              </a:pathLst>
            </a:custGeom>
            <a:solidFill>
              <a:srgbClr val="B58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04470" cy="7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678" y="-11430"/>
            <a:ext cx="18681678" cy="10531796"/>
          </a:xfrm>
          <a:custGeom>
            <a:avLst/>
            <a:gdLst/>
            <a:ahLst/>
            <a:cxnLst/>
            <a:rect r="r" b="b" t="t" l="l"/>
            <a:pathLst>
              <a:path h="10531796" w="18681678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0077" y="413530"/>
            <a:ext cx="1466737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Target Users and Market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034205" y="297395"/>
            <a:ext cx="925524" cy="963762"/>
          </a:xfrm>
          <a:custGeom>
            <a:avLst/>
            <a:gdLst/>
            <a:ahLst/>
            <a:cxnLst/>
            <a:rect r="r" b="b" t="t" l="l"/>
            <a:pathLst>
              <a:path h="963762" w="925524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7" t="-5733" r="-147202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661" y="1321157"/>
            <a:ext cx="16903200" cy="672561"/>
            <a:chOff x="0" y="0"/>
            <a:chExt cx="22537600" cy="896747"/>
          </a:xfrm>
        </p:grpSpPr>
        <p:sp>
          <p:nvSpPr>
            <p:cNvPr name="AutoShape 6" id="6"/>
            <p:cNvSpPr/>
            <p:nvPr/>
          </p:nvSpPr>
          <p:spPr>
            <a:xfrm>
              <a:off x="49" y="411875"/>
              <a:ext cx="22290554" cy="42849"/>
            </a:xfrm>
            <a:prstGeom prst="line">
              <a:avLst/>
            </a:prstGeom>
            <a:ln cap="flat" w="50800">
              <a:solidFill>
                <a:srgbClr val="6E2AF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64085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8" y="0"/>
                  </a:lnTo>
                  <a:lnTo>
                    <a:pt x="896748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411211" y="2963553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509062" y="3102086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5400000">
            <a:off x="1167344" y="2708547"/>
            <a:ext cx="646421" cy="149091"/>
            <a:chOff x="0" y="0"/>
            <a:chExt cx="170251" cy="39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251" cy="39267"/>
            </a:xfrm>
            <a:custGeom>
              <a:avLst/>
              <a:gdLst/>
              <a:ahLst/>
              <a:cxnLst/>
              <a:rect r="r" b="b" t="t" l="l"/>
              <a:pathLst>
                <a:path h="39267" w="170251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50077" y="2482144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 Scope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31950" y="2963553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1829801" y="3102086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5400000">
            <a:off x="11488082" y="2708547"/>
            <a:ext cx="646421" cy="149091"/>
            <a:chOff x="0" y="0"/>
            <a:chExt cx="170251" cy="392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251" cy="39267"/>
            </a:xfrm>
            <a:custGeom>
              <a:avLst/>
              <a:gdLst/>
              <a:ahLst/>
              <a:cxnLst/>
              <a:rect r="r" b="b" t="t" l="l"/>
              <a:pathLst>
                <a:path h="39267" w="170251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366934" y="2504791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Target Users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678" y="-11430"/>
            <a:ext cx="18681678" cy="10531796"/>
          </a:xfrm>
          <a:custGeom>
            <a:avLst/>
            <a:gdLst/>
            <a:ahLst/>
            <a:cxnLst/>
            <a:rect r="r" b="b" t="t" l="l"/>
            <a:pathLst>
              <a:path h="10531796" w="18681678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0077" y="413530"/>
            <a:ext cx="1518142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Revenue Model and Business Strategy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034205" y="297395"/>
            <a:ext cx="925524" cy="963762"/>
          </a:xfrm>
          <a:custGeom>
            <a:avLst/>
            <a:gdLst/>
            <a:ahLst/>
            <a:cxnLst/>
            <a:rect r="r" b="b" t="t" l="l"/>
            <a:pathLst>
              <a:path h="963762" w="925524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7" t="-5733" r="-147202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661" y="1321157"/>
            <a:ext cx="16903200" cy="672561"/>
            <a:chOff x="0" y="0"/>
            <a:chExt cx="22537600" cy="896747"/>
          </a:xfrm>
        </p:grpSpPr>
        <p:sp>
          <p:nvSpPr>
            <p:cNvPr name="AutoShape 6" id="6"/>
            <p:cNvSpPr/>
            <p:nvPr/>
          </p:nvSpPr>
          <p:spPr>
            <a:xfrm>
              <a:off x="49" y="411875"/>
              <a:ext cx="22290554" cy="42849"/>
            </a:xfrm>
            <a:prstGeom prst="line">
              <a:avLst/>
            </a:prstGeom>
            <a:ln cap="flat" w="50800">
              <a:solidFill>
                <a:srgbClr val="6E2AF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64085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8" y="0"/>
                  </a:lnTo>
                  <a:lnTo>
                    <a:pt x="896748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411211" y="2630739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509062" y="2769272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5400000">
            <a:off x="1167344" y="2375733"/>
            <a:ext cx="646421" cy="149091"/>
            <a:chOff x="0" y="0"/>
            <a:chExt cx="170251" cy="39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251" cy="39267"/>
            </a:xfrm>
            <a:custGeom>
              <a:avLst/>
              <a:gdLst/>
              <a:ahLst/>
              <a:cxnLst/>
              <a:rect r="r" b="b" t="t" l="l"/>
              <a:pathLst>
                <a:path h="39267" w="170251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50077" y="2149330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Revenue Model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091851" y="2630739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0189702" y="2769272"/>
            <a:ext cx="4044899" cy="0"/>
          </a:xfrm>
          <a:prstGeom prst="line">
            <a:avLst/>
          </a:prstGeom>
          <a:ln cap="flat" w="28575">
            <a:solidFill>
              <a:srgbClr val="CABA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5400000">
            <a:off x="9847983" y="2375733"/>
            <a:ext cx="646421" cy="149091"/>
            <a:chOff x="0" y="0"/>
            <a:chExt cx="170251" cy="392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251" cy="39267"/>
            </a:xfrm>
            <a:custGeom>
              <a:avLst/>
              <a:gdLst/>
              <a:ahLst/>
              <a:cxnLst/>
              <a:rect r="r" b="b" t="t" l="l"/>
              <a:pathLst>
                <a:path h="39267" w="170251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2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030717" y="2149330"/>
            <a:ext cx="3753894" cy="50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Business Strategy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678" y="-11430"/>
            <a:ext cx="18681678" cy="10531796"/>
          </a:xfrm>
          <a:custGeom>
            <a:avLst/>
            <a:gdLst/>
            <a:ahLst/>
            <a:cxnLst/>
            <a:rect r="r" b="b" t="t" l="l"/>
            <a:pathLst>
              <a:path h="10531796" w="18681678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0077" y="413530"/>
            <a:ext cx="1538158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and Benefits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034205" y="297395"/>
            <a:ext cx="925524" cy="963762"/>
          </a:xfrm>
          <a:custGeom>
            <a:avLst/>
            <a:gdLst/>
            <a:ahLst/>
            <a:cxnLst/>
            <a:rect r="r" b="b" t="t" l="l"/>
            <a:pathLst>
              <a:path h="963762" w="925524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7" t="-5733" r="-147202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661" y="1321157"/>
            <a:ext cx="16903200" cy="672561"/>
            <a:chOff x="0" y="0"/>
            <a:chExt cx="22537600" cy="896747"/>
          </a:xfrm>
        </p:grpSpPr>
        <p:sp>
          <p:nvSpPr>
            <p:cNvPr name="AutoShape 6" id="6"/>
            <p:cNvSpPr/>
            <p:nvPr/>
          </p:nvSpPr>
          <p:spPr>
            <a:xfrm>
              <a:off x="49" y="411875"/>
              <a:ext cx="22290554" cy="42849"/>
            </a:xfrm>
            <a:prstGeom prst="line">
              <a:avLst/>
            </a:prstGeom>
            <a:ln cap="flat" w="50800">
              <a:solidFill>
                <a:srgbClr val="6E2AF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64085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8" y="0"/>
                  </a:lnTo>
                  <a:lnTo>
                    <a:pt x="896748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084549" y="2843150"/>
            <a:ext cx="405903" cy="405903"/>
          </a:xfrm>
          <a:custGeom>
            <a:avLst/>
            <a:gdLst/>
            <a:ahLst/>
            <a:cxnLst/>
            <a:rect r="r" b="b" t="t" l="l"/>
            <a:pathLst>
              <a:path h="405903" w="405903">
                <a:moveTo>
                  <a:pt x="0" y="0"/>
                </a:moveTo>
                <a:lnTo>
                  <a:pt x="405902" y="0"/>
                </a:lnTo>
                <a:lnTo>
                  <a:pt x="405902" y="405903"/>
                </a:lnTo>
                <a:lnTo>
                  <a:pt x="0" y="4059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37657" y="2377106"/>
            <a:ext cx="13049843" cy="932088"/>
            <a:chOff x="0" y="0"/>
            <a:chExt cx="17399790" cy="1242784"/>
          </a:xfrm>
        </p:grpSpPr>
        <p:sp>
          <p:nvSpPr>
            <p:cNvPr name="AutoShape 10" id="10"/>
            <p:cNvSpPr/>
            <p:nvPr/>
          </p:nvSpPr>
          <p:spPr>
            <a:xfrm>
              <a:off x="176396" y="1217384"/>
              <a:ext cx="17223395" cy="0"/>
            </a:xfrm>
            <a:prstGeom prst="line">
              <a:avLst/>
            </a:prstGeom>
            <a:ln cap="flat" w="508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1" id="11"/>
            <p:cNvGrpSpPr/>
            <p:nvPr/>
          </p:nvGrpSpPr>
          <p:grpSpPr>
            <a:xfrm rot="5400000">
              <a:off x="-471378" y="471378"/>
              <a:ext cx="1225378" cy="282622"/>
              <a:chOff x="0" y="0"/>
              <a:chExt cx="170251" cy="3926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0251" cy="39267"/>
              </a:xfrm>
              <a:custGeom>
                <a:avLst/>
                <a:gdLst/>
                <a:ahLst/>
                <a:cxnLst/>
                <a:rect r="r" b="b" t="t" l="l"/>
                <a:pathLst>
                  <a:path h="39267" w="170251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anchor="ctr" rtlCol="false" tIns="72224" lIns="72224" bIns="72224" rIns="72224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89022" y="63839"/>
              <a:ext cx="13409621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Social / Environmental / Governmental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95448" y="3353655"/>
            <a:ext cx="9327262" cy="38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48484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Explain the social / environmental/ governmental impact of your solution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37657" y="5143500"/>
            <a:ext cx="13049843" cy="932088"/>
            <a:chOff x="0" y="0"/>
            <a:chExt cx="17399790" cy="1242784"/>
          </a:xfrm>
        </p:grpSpPr>
        <p:sp>
          <p:nvSpPr>
            <p:cNvPr name="AutoShape 17" id="17"/>
            <p:cNvSpPr/>
            <p:nvPr/>
          </p:nvSpPr>
          <p:spPr>
            <a:xfrm>
              <a:off x="176396" y="1217384"/>
              <a:ext cx="17223395" cy="0"/>
            </a:xfrm>
            <a:prstGeom prst="line">
              <a:avLst/>
            </a:prstGeom>
            <a:ln cap="flat" w="508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8" id="18"/>
            <p:cNvGrpSpPr/>
            <p:nvPr/>
          </p:nvGrpSpPr>
          <p:grpSpPr>
            <a:xfrm rot="5400000">
              <a:off x="-471378" y="471378"/>
              <a:ext cx="1225378" cy="282622"/>
              <a:chOff x="0" y="0"/>
              <a:chExt cx="170251" cy="3926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0251" cy="39267"/>
              </a:xfrm>
              <a:custGeom>
                <a:avLst/>
                <a:gdLst/>
                <a:ahLst/>
                <a:cxnLst/>
                <a:rect r="r" b="b" t="t" l="l"/>
                <a:pathLst>
                  <a:path h="39267" w="170251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anchor="ctr" rtlCol="false" tIns="72224" lIns="72224" bIns="72224" rIns="72224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9022" y="63839"/>
              <a:ext cx="13409621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How solution addresses the problem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678" y="-11430"/>
            <a:ext cx="18681678" cy="10531796"/>
          </a:xfrm>
          <a:custGeom>
            <a:avLst/>
            <a:gdLst/>
            <a:ahLst/>
            <a:cxnLst/>
            <a:rect r="r" b="b" t="t" l="l"/>
            <a:pathLst>
              <a:path h="10531796" w="18681678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0077" y="413530"/>
            <a:ext cx="1563328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Plan and Feasibilty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034205" y="297395"/>
            <a:ext cx="925524" cy="963762"/>
          </a:xfrm>
          <a:custGeom>
            <a:avLst/>
            <a:gdLst/>
            <a:ahLst/>
            <a:cxnLst/>
            <a:rect r="r" b="b" t="t" l="l"/>
            <a:pathLst>
              <a:path h="963762" w="925524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7" t="-5733" r="-147202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661" y="1321157"/>
            <a:ext cx="16903200" cy="672561"/>
            <a:chOff x="0" y="0"/>
            <a:chExt cx="22537600" cy="896747"/>
          </a:xfrm>
        </p:grpSpPr>
        <p:sp>
          <p:nvSpPr>
            <p:cNvPr name="AutoShape 6" id="6"/>
            <p:cNvSpPr/>
            <p:nvPr/>
          </p:nvSpPr>
          <p:spPr>
            <a:xfrm>
              <a:off x="49" y="411875"/>
              <a:ext cx="22290554" cy="42849"/>
            </a:xfrm>
            <a:prstGeom prst="line">
              <a:avLst/>
            </a:prstGeom>
            <a:ln cap="flat" w="50800">
              <a:solidFill>
                <a:srgbClr val="6E2AF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64085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8" y="0"/>
                  </a:lnTo>
                  <a:lnTo>
                    <a:pt x="896748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1770" y="2127068"/>
            <a:ext cx="5016171" cy="789171"/>
            <a:chOff x="0" y="0"/>
            <a:chExt cx="6688227" cy="10522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163979" y="671562"/>
              <a:ext cx="380667" cy="380667"/>
            </a:xfrm>
            <a:custGeom>
              <a:avLst/>
              <a:gdLst/>
              <a:ahLst/>
              <a:cxnLst/>
              <a:rect r="r" b="b" t="t" l="l"/>
              <a:pathLst>
                <a:path h="380667" w="380667">
                  <a:moveTo>
                    <a:pt x="0" y="0"/>
                  </a:moveTo>
                  <a:lnTo>
                    <a:pt x="380666" y="0"/>
                  </a:lnTo>
                  <a:lnTo>
                    <a:pt x="380666" y="380666"/>
                  </a:lnTo>
                  <a:lnTo>
                    <a:pt x="0" y="38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0" id="10"/>
            <p:cNvSpPr/>
            <p:nvPr/>
          </p:nvSpPr>
          <p:spPr>
            <a:xfrm>
              <a:off x="211980" y="856272"/>
              <a:ext cx="5951998" cy="5449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1" id="11"/>
            <p:cNvGrpSpPr/>
            <p:nvPr/>
          </p:nvGrpSpPr>
          <p:grpSpPr>
            <a:xfrm rot="5400000">
              <a:off x="-243645" y="331553"/>
              <a:ext cx="861895" cy="198788"/>
              <a:chOff x="0" y="0"/>
              <a:chExt cx="170251" cy="3926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0251" cy="39267"/>
              </a:xfrm>
              <a:custGeom>
                <a:avLst/>
                <a:gdLst/>
                <a:ahLst/>
                <a:cxnLst/>
                <a:rect r="r" b="b" t="t" l="l"/>
                <a:pathLst>
                  <a:path h="39267" w="170251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48733"/>
              <a:ext cx="6688227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Challenges and Mitigation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869" y="4358546"/>
            <a:ext cx="9974903" cy="784954"/>
            <a:chOff x="0" y="0"/>
            <a:chExt cx="13299870" cy="10466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919204" y="665939"/>
              <a:ext cx="380667" cy="380667"/>
            </a:xfrm>
            <a:custGeom>
              <a:avLst/>
              <a:gdLst/>
              <a:ahLst/>
              <a:cxnLst/>
              <a:rect r="r" b="b" t="t" l="l"/>
              <a:pathLst>
                <a:path h="380667" w="380667">
                  <a:moveTo>
                    <a:pt x="0" y="0"/>
                  </a:moveTo>
                  <a:lnTo>
                    <a:pt x="380666" y="0"/>
                  </a:lnTo>
                  <a:lnTo>
                    <a:pt x="380666" y="380666"/>
                  </a:lnTo>
                  <a:lnTo>
                    <a:pt x="0" y="38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7" id="17"/>
            <p:cNvSpPr/>
            <p:nvPr/>
          </p:nvSpPr>
          <p:spPr>
            <a:xfrm>
              <a:off x="567135" y="856272"/>
              <a:ext cx="12352069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8" id="18"/>
            <p:cNvGrpSpPr/>
            <p:nvPr/>
          </p:nvGrpSpPr>
          <p:grpSpPr>
            <a:xfrm rot="5400000">
              <a:off x="111510" y="331553"/>
              <a:ext cx="861895" cy="198788"/>
              <a:chOff x="0" y="0"/>
              <a:chExt cx="170251" cy="3926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0251" cy="39267"/>
              </a:xfrm>
              <a:custGeom>
                <a:avLst/>
                <a:gdLst/>
                <a:ahLst/>
                <a:cxnLst/>
                <a:rect r="r" b="b" t="t" l="l"/>
                <a:pathLst>
                  <a:path h="39267" w="170251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9051"/>
              <a:ext cx="13299870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Economic Viability and Commercialisation Scalability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2616" y="6609376"/>
            <a:ext cx="5890549" cy="789171"/>
            <a:chOff x="0" y="0"/>
            <a:chExt cx="7854065" cy="10522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473399" y="671562"/>
              <a:ext cx="380667" cy="380667"/>
            </a:xfrm>
            <a:custGeom>
              <a:avLst/>
              <a:gdLst/>
              <a:ahLst/>
              <a:cxnLst/>
              <a:rect r="r" b="b" t="t" l="l"/>
              <a:pathLst>
                <a:path h="380667" w="380667">
                  <a:moveTo>
                    <a:pt x="0" y="0"/>
                  </a:moveTo>
                  <a:lnTo>
                    <a:pt x="380666" y="0"/>
                  </a:lnTo>
                  <a:lnTo>
                    <a:pt x="380666" y="380666"/>
                  </a:lnTo>
                  <a:lnTo>
                    <a:pt x="0" y="38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4" id="24"/>
            <p:cNvSpPr/>
            <p:nvPr/>
          </p:nvSpPr>
          <p:spPr>
            <a:xfrm>
              <a:off x="1521400" y="856272"/>
              <a:ext cx="5951998" cy="5449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5" id="25"/>
            <p:cNvGrpSpPr/>
            <p:nvPr/>
          </p:nvGrpSpPr>
          <p:grpSpPr>
            <a:xfrm rot="5400000">
              <a:off x="1065775" y="331553"/>
              <a:ext cx="861895" cy="198788"/>
              <a:chOff x="0" y="0"/>
              <a:chExt cx="170251" cy="3926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70251" cy="39267"/>
              </a:xfrm>
              <a:custGeom>
                <a:avLst/>
                <a:gdLst/>
                <a:ahLst/>
                <a:cxnLst/>
                <a:rect r="r" b="b" t="t" l="l"/>
                <a:pathLst>
                  <a:path h="39267" w="170251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8897"/>
              <a:ext cx="6688227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Future Scope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678" y="-11430"/>
            <a:ext cx="18681678" cy="10531796"/>
          </a:xfrm>
          <a:custGeom>
            <a:avLst/>
            <a:gdLst/>
            <a:ahLst/>
            <a:cxnLst/>
            <a:rect r="r" b="b" t="t" l="l"/>
            <a:pathLst>
              <a:path h="10531796" w="18681678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0077" y="413530"/>
            <a:ext cx="1556267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and References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034205" y="297395"/>
            <a:ext cx="925524" cy="963762"/>
          </a:xfrm>
          <a:custGeom>
            <a:avLst/>
            <a:gdLst/>
            <a:ahLst/>
            <a:cxnLst/>
            <a:rect r="r" b="b" t="t" l="l"/>
            <a:pathLst>
              <a:path h="963762" w="925524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7" t="-5733" r="-147202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661" y="1321157"/>
            <a:ext cx="16903200" cy="672561"/>
            <a:chOff x="0" y="0"/>
            <a:chExt cx="22537600" cy="896747"/>
          </a:xfrm>
        </p:grpSpPr>
        <p:sp>
          <p:nvSpPr>
            <p:cNvPr name="AutoShape 6" id="6"/>
            <p:cNvSpPr/>
            <p:nvPr/>
          </p:nvSpPr>
          <p:spPr>
            <a:xfrm>
              <a:off x="49" y="411875"/>
              <a:ext cx="22290554" cy="42849"/>
            </a:xfrm>
            <a:prstGeom prst="line">
              <a:avLst/>
            </a:prstGeom>
            <a:ln cap="flat" w="50800">
              <a:solidFill>
                <a:srgbClr val="6E2AF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64085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8" y="0"/>
                  </a:lnTo>
                  <a:lnTo>
                    <a:pt x="896748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DAHXNYZDUS0</dc:identifier>
  <dcterms:modified xsi:type="dcterms:W3CDTF">2011-08-01T06:04:30Z</dcterms:modified>
  <cp:revision>1</cp:revision>
  <dc:title>Incubex ppt format product track</dc:title>
</cp:coreProperties>
</file>