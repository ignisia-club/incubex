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Instrument Serif Italics" charset="1" panose="00000000000000000000"/>
      <p:regular r:id="rId15"/>
    </p:embeddedFont>
    <p:embeddedFont>
      <p:font typeface="Calibri (MS) Bold Italics" charset="1" panose="020F07020304040A0204"/>
      <p:regular r:id="rId16"/>
    </p:embeddedFont>
    <p:embeddedFont>
      <p:font typeface="Helvetica World Bold" charset="1" panose="020B0800040000020004"/>
      <p:regular r:id="rId17"/>
    </p:embeddedFont>
    <p:embeddedFont>
      <p:font typeface="League Spartan" charset="1" panose="00000800000000000000"/>
      <p:regular r:id="rId18"/>
    </p:embeddedFont>
    <p:embeddedFont>
      <p:font typeface="Helvetica World" charset="1" panose="020B05000400000200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3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3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85339" y="-720471"/>
            <a:ext cx="21320424" cy="12006064"/>
          </a:xfrm>
          <a:custGeom>
            <a:avLst/>
            <a:gdLst/>
            <a:ahLst/>
            <a:cxnLst/>
            <a:rect r="r" b="b" t="t" l="l"/>
            <a:pathLst>
              <a:path h="12006064" w="21320424">
                <a:moveTo>
                  <a:pt x="0" y="0"/>
                </a:moveTo>
                <a:lnTo>
                  <a:pt x="21320425" y="0"/>
                </a:lnTo>
                <a:lnTo>
                  <a:pt x="21320425" y="12006064"/>
                </a:lnTo>
                <a:lnTo>
                  <a:pt x="0" y="120060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2372079" y="3636195"/>
            <a:ext cx="7742727" cy="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372079" y="3495545"/>
            <a:ext cx="811282" cy="224150"/>
            <a:chOff x="0" y="0"/>
            <a:chExt cx="213671" cy="5903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3671" cy="59035"/>
            </a:xfrm>
            <a:custGeom>
              <a:avLst/>
              <a:gdLst/>
              <a:ahLst/>
              <a:cxnLst/>
              <a:rect r="r" b="b" t="t" l="l"/>
              <a:pathLst>
                <a:path h="59035" w="213671">
                  <a:moveTo>
                    <a:pt x="29518" y="0"/>
                  </a:moveTo>
                  <a:lnTo>
                    <a:pt x="184153" y="0"/>
                  </a:lnTo>
                  <a:cubicBezTo>
                    <a:pt x="191982" y="0"/>
                    <a:pt x="199490" y="3110"/>
                    <a:pt x="205025" y="8646"/>
                  </a:cubicBezTo>
                  <a:cubicBezTo>
                    <a:pt x="210561" y="14181"/>
                    <a:pt x="213671" y="21689"/>
                    <a:pt x="213671" y="29518"/>
                  </a:cubicBezTo>
                  <a:lnTo>
                    <a:pt x="213671" y="29518"/>
                  </a:lnTo>
                  <a:cubicBezTo>
                    <a:pt x="213671" y="37346"/>
                    <a:pt x="210561" y="44854"/>
                    <a:pt x="205025" y="50390"/>
                  </a:cubicBezTo>
                  <a:cubicBezTo>
                    <a:pt x="199490" y="55926"/>
                    <a:pt x="191982" y="59035"/>
                    <a:pt x="184153" y="59035"/>
                  </a:cubicBezTo>
                  <a:lnTo>
                    <a:pt x="29518" y="59035"/>
                  </a:lnTo>
                  <a:cubicBezTo>
                    <a:pt x="21689" y="59035"/>
                    <a:pt x="14181" y="55926"/>
                    <a:pt x="8646" y="50390"/>
                  </a:cubicBezTo>
                  <a:cubicBezTo>
                    <a:pt x="3110" y="44854"/>
                    <a:pt x="0" y="37346"/>
                    <a:pt x="0" y="29518"/>
                  </a:cubicBezTo>
                  <a:lnTo>
                    <a:pt x="0" y="29518"/>
                  </a:lnTo>
                  <a:cubicBezTo>
                    <a:pt x="0" y="21689"/>
                    <a:pt x="3110" y="14181"/>
                    <a:pt x="8646" y="8646"/>
                  </a:cubicBezTo>
                  <a:cubicBezTo>
                    <a:pt x="14181" y="3110"/>
                    <a:pt x="21689" y="0"/>
                    <a:pt x="29518" y="0"/>
                  </a:cubicBezTo>
                  <a:close/>
                </a:path>
              </a:pathLst>
            </a:custGeom>
            <a:solidFill>
              <a:srgbClr val="7771D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213671" cy="1066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9795206" y="3299915"/>
            <a:ext cx="672561" cy="672561"/>
          </a:xfrm>
          <a:custGeom>
            <a:avLst/>
            <a:gdLst/>
            <a:ahLst/>
            <a:cxnLst/>
            <a:rect r="r" b="b" t="t" l="l"/>
            <a:pathLst>
              <a:path h="672561" w="672561">
                <a:moveTo>
                  <a:pt x="0" y="0"/>
                </a:moveTo>
                <a:lnTo>
                  <a:pt x="672560" y="0"/>
                </a:lnTo>
                <a:lnTo>
                  <a:pt x="672560" y="672561"/>
                </a:lnTo>
                <a:lnTo>
                  <a:pt x="0" y="6725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671072" y="510137"/>
            <a:ext cx="1690640" cy="904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i="true">
                <a:solidFill>
                  <a:srgbClr val="39ACA1"/>
                </a:solidFill>
                <a:latin typeface="Instrument Serif Italics"/>
                <a:ea typeface="Instrument Serif Italics"/>
                <a:cs typeface="Instrument Serif Italics"/>
                <a:sym typeface="Instrument Serif Italics"/>
              </a:rPr>
              <a:t>Ignisia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748509" y="515376"/>
            <a:ext cx="923925" cy="981075"/>
            <a:chOff x="0" y="0"/>
            <a:chExt cx="1231900" cy="130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31900" cy="1308100"/>
            </a:xfrm>
            <a:custGeom>
              <a:avLst/>
              <a:gdLst/>
              <a:ahLst/>
              <a:cxnLst/>
              <a:rect r="r" b="b" t="t" l="l"/>
              <a:pathLst>
                <a:path h="1308100" w="1231900">
                  <a:moveTo>
                    <a:pt x="0" y="0"/>
                  </a:moveTo>
                  <a:lnTo>
                    <a:pt x="1231900" y="0"/>
                  </a:lnTo>
                  <a:lnTo>
                    <a:pt x="12319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188" t="0" r="-141234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2121691" y="314816"/>
            <a:ext cx="2477152" cy="1375374"/>
          </a:xfrm>
          <a:custGeom>
            <a:avLst/>
            <a:gdLst/>
            <a:ahLst/>
            <a:cxnLst/>
            <a:rect r="r" b="b" t="t" l="l"/>
            <a:pathLst>
              <a:path h="1375374" w="2477152">
                <a:moveTo>
                  <a:pt x="0" y="0"/>
                </a:moveTo>
                <a:lnTo>
                  <a:pt x="2477152" y="0"/>
                </a:lnTo>
                <a:lnTo>
                  <a:pt x="2477152" y="1375374"/>
                </a:lnTo>
                <a:lnTo>
                  <a:pt x="0" y="1375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853302" y="656842"/>
            <a:ext cx="1745976" cy="753526"/>
          </a:xfrm>
          <a:custGeom>
            <a:avLst/>
            <a:gdLst/>
            <a:ahLst/>
            <a:cxnLst/>
            <a:rect r="r" b="b" t="t" l="l"/>
            <a:pathLst>
              <a:path h="753526" w="1745976">
                <a:moveTo>
                  <a:pt x="0" y="0"/>
                </a:moveTo>
                <a:lnTo>
                  <a:pt x="1745976" y="0"/>
                </a:lnTo>
                <a:lnTo>
                  <a:pt x="1745976" y="753526"/>
                </a:lnTo>
                <a:lnTo>
                  <a:pt x="0" y="75352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 flipV="true">
            <a:off x="4636943" y="554828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 flipV="true">
            <a:off x="6514651" y="554828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flipV="true">
            <a:off x="8780253" y="553118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11045854" y="551409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flipV="true">
            <a:off x="13311456" y="549699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9476586" y="656842"/>
            <a:ext cx="872935" cy="755236"/>
          </a:xfrm>
          <a:custGeom>
            <a:avLst/>
            <a:gdLst/>
            <a:ahLst/>
            <a:cxnLst/>
            <a:rect r="r" b="b" t="t" l="l"/>
            <a:pathLst>
              <a:path h="755236" w="872935">
                <a:moveTo>
                  <a:pt x="0" y="0"/>
                </a:moveTo>
                <a:lnTo>
                  <a:pt x="872935" y="0"/>
                </a:lnTo>
                <a:lnTo>
                  <a:pt x="872935" y="755236"/>
                </a:lnTo>
                <a:lnTo>
                  <a:pt x="0" y="7552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1149480" y="554828"/>
            <a:ext cx="2058350" cy="876300"/>
          </a:xfrm>
          <a:custGeom>
            <a:avLst/>
            <a:gdLst/>
            <a:ahLst/>
            <a:cxnLst/>
            <a:rect r="r" b="b" t="t" l="l"/>
            <a:pathLst>
              <a:path h="876300" w="2058350">
                <a:moveTo>
                  <a:pt x="0" y="0"/>
                </a:moveTo>
                <a:lnTo>
                  <a:pt x="2058350" y="0"/>
                </a:lnTo>
                <a:lnTo>
                  <a:pt x="20583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33158" r="0" b="-43061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5026050" y="1333506"/>
            <a:ext cx="966235" cy="152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7"/>
              </a:lnSpc>
            </a:pP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THINK. </a:t>
            </a:r>
            <a:r>
              <a:rPr lang="en-US" b="true" sz="784" i="true">
                <a:solidFill>
                  <a:srgbClr val="39ACA1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BUILD.</a:t>
            </a: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 EVOLVE.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451528" y="-100151"/>
            <a:ext cx="2114191" cy="2114191"/>
          </a:xfrm>
          <a:custGeom>
            <a:avLst/>
            <a:gdLst/>
            <a:ahLst/>
            <a:cxnLst/>
            <a:rect r="r" b="b" t="t" l="l"/>
            <a:pathLst>
              <a:path h="2114191" w="2114191">
                <a:moveTo>
                  <a:pt x="0" y="0"/>
                </a:moveTo>
                <a:lnTo>
                  <a:pt x="2114191" y="0"/>
                </a:lnTo>
                <a:lnTo>
                  <a:pt x="2114191" y="2114191"/>
                </a:lnTo>
                <a:lnTo>
                  <a:pt x="0" y="211419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2400654" y="4658310"/>
            <a:ext cx="11057340" cy="3717285"/>
            <a:chOff x="0" y="0"/>
            <a:chExt cx="14743120" cy="495638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4343084" y="2115740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14323714" y="3345727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14304344" y="4575714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14362454" y="885753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7" id="27"/>
            <p:cNvGrpSpPr/>
            <p:nvPr/>
          </p:nvGrpSpPr>
          <p:grpSpPr>
            <a:xfrm rot="5400000">
              <a:off x="-466138" y="466138"/>
              <a:ext cx="1081709" cy="149433"/>
              <a:chOff x="0" y="0"/>
              <a:chExt cx="213671" cy="29518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5400000">
              <a:off x="-466138" y="1687547"/>
              <a:ext cx="1081709" cy="149433"/>
              <a:chOff x="0" y="0"/>
              <a:chExt cx="213671" cy="29518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5400000">
              <a:off x="-466138" y="2908957"/>
              <a:ext cx="1081709" cy="149433"/>
              <a:chOff x="0" y="0"/>
              <a:chExt cx="213671" cy="29518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5400000">
              <a:off x="-466138" y="4130366"/>
              <a:ext cx="1081709" cy="149433"/>
              <a:chOff x="0" y="0"/>
              <a:chExt cx="213671" cy="29518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AutoShape 39" id="39"/>
            <p:cNvSpPr/>
            <p:nvPr/>
          </p:nvSpPr>
          <p:spPr>
            <a:xfrm>
              <a:off x="74717" y="2306073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0" id="40"/>
            <p:cNvSpPr/>
            <p:nvPr/>
          </p:nvSpPr>
          <p:spPr>
            <a:xfrm>
              <a:off x="94087" y="3536060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1" id="41"/>
            <p:cNvSpPr/>
            <p:nvPr/>
          </p:nvSpPr>
          <p:spPr>
            <a:xfrm>
              <a:off x="113456" y="476604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2" id="42"/>
            <p:cNvSpPr/>
            <p:nvPr/>
          </p:nvSpPr>
          <p:spPr>
            <a:xfrm>
              <a:off x="74717" y="107608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43" id="43"/>
            <p:cNvSpPr txBox="true"/>
            <p:nvPr/>
          </p:nvSpPr>
          <p:spPr>
            <a:xfrm rot="0">
              <a:off x="388685" y="126718"/>
              <a:ext cx="1848165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Track: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388685" y="1356705"/>
              <a:ext cx="2335488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Theme: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564732" y="2581625"/>
              <a:ext cx="138991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Title: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339028" y="3815460"/>
              <a:ext cx="2669409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Team ID: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30000">
            <a:off x="2378811" y="1744082"/>
            <a:ext cx="5424934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29292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INCUBE</a:t>
            </a:r>
            <a:r>
              <a:rPr lang="en-US" sz="9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X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2838490" y="3895026"/>
            <a:ext cx="4726781" cy="382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Fill in the details below about your idea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313446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355260" y="480122"/>
            <a:ext cx="13147408" cy="781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and limitations of existing solutions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411297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5400000">
            <a:off x="894069" y="3006023"/>
            <a:ext cx="1034456" cy="112075"/>
            <a:chOff x="0" y="0"/>
            <a:chExt cx="272449" cy="2951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72449" cy="29518"/>
            </a:xfrm>
            <a:custGeom>
              <a:avLst/>
              <a:gdLst/>
              <a:ahLst/>
              <a:cxnLst/>
              <a:rect r="r" b="b" t="t" l="l"/>
              <a:pathLst>
                <a:path h="29518" w="272449">
                  <a:moveTo>
                    <a:pt x="14759" y="0"/>
                  </a:moveTo>
                  <a:lnTo>
                    <a:pt x="257690" y="0"/>
                  </a:lnTo>
                  <a:cubicBezTo>
                    <a:pt x="261605" y="0"/>
                    <a:pt x="265359" y="1555"/>
                    <a:pt x="268127" y="4323"/>
                  </a:cubicBezTo>
                  <a:cubicBezTo>
                    <a:pt x="270894" y="7091"/>
                    <a:pt x="272449" y="10845"/>
                    <a:pt x="272449" y="14759"/>
                  </a:cubicBezTo>
                  <a:lnTo>
                    <a:pt x="272449" y="14759"/>
                  </a:lnTo>
                  <a:cubicBezTo>
                    <a:pt x="272449" y="18673"/>
                    <a:pt x="270894" y="22427"/>
                    <a:pt x="268127" y="25195"/>
                  </a:cubicBezTo>
                  <a:cubicBezTo>
                    <a:pt x="265359" y="27963"/>
                    <a:pt x="261605" y="29518"/>
                    <a:pt x="257690" y="29518"/>
                  </a:cubicBezTo>
                  <a:lnTo>
                    <a:pt x="14759" y="29518"/>
                  </a:lnTo>
                  <a:cubicBezTo>
                    <a:pt x="10845" y="29518"/>
                    <a:pt x="7091" y="27963"/>
                    <a:pt x="4323" y="25195"/>
                  </a:cubicBezTo>
                  <a:cubicBezTo>
                    <a:pt x="1555" y="22427"/>
                    <a:pt x="0" y="18673"/>
                    <a:pt x="0" y="14759"/>
                  </a:cubicBezTo>
                  <a:lnTo>
                    <a:pt x="0" y="14759"/>
                  </a:lnTo>
                  <a:cubicBezTo>
                    <a:pt x="0" y="10845"/>
                    <a:pt x="1555" y="7091"/>
                    <a:pt x="4323" y="4323"/>
                  </a:cubicBezTo>
                  <a:cubicBezTo>
                    <a:pt x="7091" y="1555"/>
                    <a:pt x="10845" y="0"/>
                    <a:pt x="14759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272449" cy="771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AutoShape 16" id="16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272449" cy="7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272449" cy="795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845052" y="2709807"/>
            <a:ext cx="3264102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Existing solutions and their limitations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346571" y="4203686"/>
            <a:ext cx="3573102" cy="1163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existing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grpSp>
        <p:nvGrpSpPr>
          <p:cNvPr name="Group 29" id="29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30" id="30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5411993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55260" y="480122"/>
            <a:ext cx="772041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Our Solutions and it’s USP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2" id="12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3" id="13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47625"/>
                <a:ext cx="272449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AutoShape 16" id="16"/>
          <p:cNvSpPr/>
          <p:nvPr/>
        </p:nvSpPr>
        <p:spPr>
          <a:xfrm>
            <a:off x="11509844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10989117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272449" cy="7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845052" y="2709807"/>
            <a:ext cx="361114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Solution Description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707061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Features &amp; USP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23" id="23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18244" y="625366"/>
            <a:ext cx="12316662" cy="557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6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of the Solution/Architecture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015234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113085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771366" y="4417495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69065" y="419109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Methodology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400561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6498412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6156693" y="4417495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054392" y="4140255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Demo Images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5677943" y="4701077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11775794" y="4839610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5400000">
            <a:off x="11434075" y="4446070"/>
            <a:ext cx="646421" cy="149091"/>
            <a:chOff x="0" y="0"/>
            <a:chExt cx="170251" cy="3926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211119" y="41688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Charts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661" y="1836079"/>
            <a:ext cx="12211663" cy="1944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Methodology and Flowcharts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Implementation Process, Technologies (languages, frameworks, devices etc.)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Optional: Images, Demo screenshots, Demo link ~removable text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27" id="27"/>
          <p:cNvGrpSpPr/>
          <p:nvPr/>
        </p:nvGrpSpPr>
        <p:grpSpPr>
          <a:xfrm rot="0">
            <a:off x="1028661" y="1883704"/>
            <a:ext cx="1156034" cy="110014"/>
            <a:chOff x="0" y="0"/>
            <a:chExt cx="304470" cy="2897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304470" cy="7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28661" y="3725442"/>
            <a:ext cx="1156034" cy="110014"/>
            <a:chOff x="0" y="0"/>
            <a:chExt cx="304470" cy="2897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304470" cy="7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7374636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Target Users and Market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411211" y="2963553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509062" y="3102086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1167344" y="2708547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50077" y="2482144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Market Scope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5731950" y="2963553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11829801" y="3102086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11488082" y="2708547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1366934" y="2504791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Target Users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1262568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Revenue Model and Business Strategy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411211" y="2630739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509062" y="2769272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1167344" y="2375733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50077" y="21493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Revenue Model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4091851" y="2630739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10189702" y="2769272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9847983" y="2375733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030717" y="21493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Business Strategy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6272887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Impact and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084549" y="2843150"/>
            <a:ext cx="405903" cy="405903"/>
          </a:xfrm>
          <a:custGeom>
            <a:avLst/>
            <a:gdLst/>
            <a:ahLst/>
            <a:cxnLst/>
            <a:rect r="r" b="b" t="t" l="l"/>
            <a:pathLst>
              <a:path h="405903" w="405903">
                <a:moveTo>
                  <a:pt x="0" y="0"/>
                </a:moveTo>
                <a:lnTo>
                  <a:pt x="405902" y="0"/>
                </a:lnTo>
                <a:lnTo>
                  <a:pt x="405902" y="405903"/>
                </a:lnTo>
                <a:lnTo>
                  <a:pt x="0" y="4059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37657" y="2377106"/>
            <a:ext cx="13049843" cy="932088"/>
            <a:chOff x="0" y="0"/>
            <a:chExt cx="17399790" cy="1242784"/>
          </a:xfrm>
        </p:grpSpPr>
        <p:sp>
          <p:nvSpPr>
            <p:cNvPr name="AutoShape 10" id="10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Social / Environmental / Governmental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95448" y="3353655"/>
            <a:ext cx="9327262" cy="38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the social / environmental/ governmental impact of your solution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37657" y="5143500"/>
            <a:ext cx="13049843" cy="932088"/>
            <a:chOff x="0" y="0"/>
            <a:chExt cx="17399790" cy="1242784"/>
          </a:xfrm>
        </p:grpSpPr>
        <p:sp>
          <p:nvSpPr>
            <p:cNvPr name="AutoShape 17" id="17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How solution addresses the problem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8078008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Plan and Feasibilty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51770" y="2127068"/>
            <a:ext cx="5016171" cy="789171"/>
            <a:chOff x="0" y="0"/>
            <a:chExt cx="6688227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16397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21198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243645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48733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Challenges and Mitigation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22869" y="4358546"/>
            <a:ext cx="9974903" cy="784954"/>
            <a:chOff x="0" y="0"/>
            <a:chExt cx="13299870" cy="10466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919204" y="665939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567135" y="856272"/>
              <a:ext cx="12352069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111510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19051"/>
              <a:ext cx="1329987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Economic Viability and Commercialisation Scalability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72616" y="6609376"/>
            <a:ext cx="5890549" cy="789171"/>
            <a:chOff x="0" y="0"/>
            <a:chExt cx="7854065" cy="105222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747339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24" id="24"/>
            <p:cNvSpPr/>
            <p:nvPr/>
          </p:nvSpPr>
          <p:spPr>
            <a:xfrm>
              <a:off x="152140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5" id="25"/>
            <p:cNvGrpSpPr/>
            <p:nvPr/>
          </p:nvGrpSpPr>
          <p:grpSpPr>
            <a:xfrm rot="5400000">
              <a:off x="1065775" y="331553"/>
              <a:ext cx="861895" cy="198788"/>
              <a:chOff x="0" y="0"/>
              <a:chExt cx="170251" cy="3926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897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Future Scope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8078008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Research and References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DAHXNYZDUS0</dc:identifier>
  <dcterms:modified xsi:type="dcterms:W3CDTF">2011-08-01T06:04:30Z</dcterms:modified>
  <cp:revision>1</cp:revision>
  <dc:title>Incubex ppt format product track</dc:title>
</cp:coreProperties>
</file>