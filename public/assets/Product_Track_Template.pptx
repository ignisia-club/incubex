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Helvetica World Bold" charset="1" panose="020B0800040000020004"/>
      <p:regular r:id="rId15"/>
    </p:embeddedFont>
    <p:embeddedFont>
      <p:font typeface="Instrument Serif Italics" charset="1" panose="00000000000000000000"/>
      <p:regular r:id="rId16"/>
    </p:embeddedFont>
    <p:embeddedFont>
      <p:font typeface="League Spartan" charset="1" panose="00000800000000000000"/>
      <p:regular r:id="rId17"/>
    </p:embeddedFont>
    <p:embeddedFont>
      <p:font typeface="Calibri (MS) Bold Italics" charset="1" panose="020F07020304040A0204"/>
      <p:regular r:id="rId18"/>
    </p:embeddedFont>
    <p:embeddedFont>
      <p:font typeface="Helvetica World" charset="1" panose="020B05000400000200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16" Target="../media/image15.png" Type="http://schemas.openxmlformats.org/officeDocument/2006/relationships/image"/><Relationship Id="rId17" Target="../media/image16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8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8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753008" y="-5715"/>
            <a:ext cx="20041008" cy="11285593"/>
          </a:xfrm>
          <a:custGeom>
            <a:avLst/>
            <a:gdLst/>
            <a:ahLst/>
            <a:cxnLst/>
            <a:rect r="r" b="b" t="t" l="l"/>
            <a:pathLst>
              <a:path h="11285593" w="20041008">
                <a:moveTo>
                  <a:pt x="0" y="0"/>
                </a:moveTo>
                <a:lnTo>
                  <a:pt x="20041008" y="0"/>
                </a:lnTo>
                <a:lnTo>
                  <a:pt x="20041008" y="11285593"/>
                </a:lnTo>
                <a:lnTo>
                  <a:pt x="0" y="112855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5072066" y="170381"/>
            <a:ext cx="2815713" cy="1392732"/>
            <a:chOff x="0" y="0"/>
            <a:chExt cx="5638800" cy="278911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638800" cy="2789174"/>
            </a:xfrm>
            <a:custGeom>
              <a:avLst/>
              <a:gdLst/>
              <a:ahLst/>
              <a:cxnLst/>
              <a:rect r="r" b="b" t="t" l="l"/>
              <a:pathLst>
                <a:path h="2789174" w="5638800">
                  <a:moveTo>
                    <a:pt x="0" y="0"/>
                  </a:moveTo>
                  <a:lnTo>
                    <a:pt x="5638800" y="0"/>
                  </a:lnTo>
                  <a:lnTo>
                    <a:pt x="5638800" y="2789174"/>
                  </a:lnTo>
                  <a:lnTo>
                    <a:pt x="0" y="27891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2469" r="0" b="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5043230" y="2425034"/>
            <a:ext cx="8095687" cy="672561"/>
            <a:chOff x="0" y="0"/>
            <a:chExt cx="10794249" cy="896747"/>
          </a:xfrm>
        </p:grpSpPr>
        <p:sp>
          <p:nvSpPr>
            <p:cNvPr name="AutoShape 6" id="6"/>
            <p:cNvSpPr/>
            <p:nvPr/>
          </p:nvSpPr>
          <p:spPr>
            <a:xfrm>
              <a:off x="0" y="448374"/>
              <a:ext cx="10323636" cy="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7" id="7"/>
            <p:cNvGrpSpPr/>
            <p:nvPr/>
          </p:nvGrpSpPr>
          <p:grpSpPr>
            <a:xfrm rot="0">
              <a:off x="0" y="260840"/>
              <a:ext cx="1081709" cy="298867"/>
              <a:chOff x="0" y="0"/>
              <a:chExt cx="213671" cy="59035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13671" cy="59035"/>
              </a:xfrm>
              <a:custGeom>
                <a:avLst/>
                <a:gdLst/>
                <a:ahLst/>
                <a:cxnLst/>
                <a:rect r="r" b="b" t="t" l="l"/>
                <a:pathLst>
                  <a:path h="59035" w="213671">
                    <a:moveTo>
                      <a:pt x="29518" y="0"/>
                    </a:moveTo>
                    <a:lnTo>
                      <a:pt x="184153" y="0"/>
                    </a:lnTo>
                    <a:cubicBezTo>
                      <a:pt x="191982" y="0"/>
                      <a:pt x="199490" y="3110"/>
                      <a:pt x="205025" y="8646"/>
                    </a:cubicBezTo>
                    <a:cubicBezTo>
                      <a:pt x="210561" y="14181"/>
                      <a:pt x="213671" y="21689"/>
                      <a:pt x="213671" y="29518"/>
                    </a:cubicBezTo>
                    <a:lnTo>
                      <a:pt x="213671" y="29518"/>
                    </a:lnTo>
                    <a:cubicBezTo>
                      <a:pt x="213671" y="37346"/>
                      <a:pt x="210561" y="44854"/>
                      <a:pt x="205025" y="50390"/>
                    </a:cubicBezTo>
                    <a:cubicBezTo>
                      <a:pt x="199490" y="55926"/>
                      <a:pt x="191982" y="59035"/>
                      <a:pt x="184153" y="59035"/>
                    </a:cubicBezTo>
                    <a:lnTo>
                      <a:pt x="29518" y="59035"/>
                    </a:lnTo>
                    <a:cubicBezTo>
                      <a:pt x="21689" y="59035"/>
                      <a:pt x="14181" y="55926"/>
                      <a:pt x="8646" y="50390"/>
                    </a:cubicBezTo>
                    <a:cubicBezTo>
                      <a:pt x="3110" y="44854"/>
                      <a:pt x="0" y="37346"/>
                      <a:pt x="0" y="29518"/>
                    </a:cubicBezTo>
                    <a:lnTo>
                      <a:pt x="0" y="29518"/>
                    </a:lnTo>
                    <a:cubicBezTo>
                      <a:pt x="0" y="21689"/>
                      <a:pt x="3110" y="14181"/>
                      <a:pt x="8646" y="8646"/>
                    </a:cubicBezTo>
                    <a:cubicBezTo>
                      <a:pt x="14181" y="3110"/>
                      <a:pt x="21689" y="0"/>
                      <a:pt x="29518" y="0"/>
                    </a:cubicBezTo>
                    <a:close/>
                  </a:path>
                </a:pathLst>
              </a:custGeom>
              <a:solidFill>
                <a:srgbClr val="7771DC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57150"/>
                <a:ext cx="213671" cy="11618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989750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7" y="0"/>
                  </a:lnTo>
                  <a:lnTo>
                    <a:pt x="896747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3129392" y="701605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114865" y="793854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3100337" y="886103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3143920" y="609356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499" y="0"/>
                </a:lnTo>
                <a:lnTo>
                  <a:pt x="285499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3469116" y="4441903"/>
            <a:ext cx="10914590" cy="3588823"/>
            <a:chOff x="0" y="0"/>
            <a:chExt cx="14552787" cy="4785097"/>
          </a:xfrm>
        </p:grpSpPr>
        <p:grpSp>
          <p:nvGrpSpPr>
            <p:cNvPr name="Group 16" id="16"/>
            <p:cNvGrpSpPr/>
            <p:nvPr/>
          </p:nvGrpSpPr>
          <p:grpSpPr>
            <a:xfrm rot="5400000">
              <a:off x="-466138" y="466138"/>
              <a:ext cx="1081709" cy="149433"/>
              <a:chOff x="0" y="0"/>
              <a:chExt cx="213671" cy="29518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-466138" y="1687547"/>
              <a:ext cx="1081709" cy="149433"/>
              <a:chOff x="0" y="0"/>
              <a:chExt cx="213671" cy="29518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5400000">
              <a:off x="-466138" y="2908957"/>
              <a:ext cx="1081709" cy="149433"/>
              <a:chOff x="0" y="0"/>
              <a:chExt cx="213671" cy="29518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-466138" y="4130366"/>
              <a:ext cx="1081709" cy="149433"/>
              <a:chOff x="0" y="0"/>
              <a:chExt cx="213671" cy="29518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AutoShape 28" id="28"/>
            <p:cNvSpPr/>
            <p:nvPr/>
          </p:nvSpPr>
          <p:spPr>
            <a:xfrm>
              <a:off x="74717" y="2306073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9" id="29"/>
            <p:cNvSpPr/>
            <p:nvPr/>
          </p:nvSpPr>
          <p:spPr>
            <a:xfrm>
              <a:off x="94087" y="3536060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0" id="30"/>
            <p:cNvSpPr/>
            <p:nvPr/>
          </p:nvSpPr>
          <p:spPr>
            <a:xfrm>
              <a:off x="113456" y="476604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1" id="31"/>
            <p:cNvSpPr/>
            <p:nvPr/>
          </p:nvSpPr>
          <p:spPr>
            <a:xfrm>
              <a:off x="74717" y="107608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32" id="32"/>
            <p:cNvSpPr txBox="true"/>
            <p:nvPr/>
          </p:nvSpPr>
          <p:spPr>
            <a:xfrm rot="0">
              <a:off x="388685" y="126718"/>
              <a:ext cx="1848165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Track: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388685" y="1356705"/>
              <a:ext cx="2335488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Theme: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564732" y="2581625"/>
              <a:ext cx="1389910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Title: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339028" y="3815460"/>
              <a:ext cx="2669409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Team ID: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20008" y="286626"/>
            <a:ext cx="3523222" cy="887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i="true">
                <a:solidFill>
                  <a:srgbClr val="39ACA1"/>
                </a:solidFill>
                <a:latin typeface="Instrument Serif Italics"/>
                <a:ea typeface="Instrument Serif Italics"/>
                <a:cs typeface="Instrument Serif Italics"/>
                <a:sym typeface="Instrument Serif Italics"/>
              </a:rPr>
              <a:t>Ignisia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597445" y="291865"/>
            <a:ext cx="923925" cy="981075"/>
            <a:chOff x="0" y="0"/>
            <a:chExt cx="1231900" cy="13081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31900" cy="1308100"/>
            </a:xfrm>
            <a:custGeom>
              <a:avLst/>
              <a:gdLst/>
              <a:ahLst/>
              <a:cxnLst/>
              <a:rect r="r" b="b" t="t" l="l"/>
              <a:pathLst>
                <a:path h="1308100" w="1231900">
                  <a:moveTo>
                    <a:pt x="0" y="0"/>
                  </a:moveTo>
                  <a:lnTo>
                    <a:pt x="1231900" y="0"/>
                  </a:lnTo>
                  <a:lnTo>
                    <a:pt x="12319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6188" t="0" r="-141234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147601" y="8538370"/>
            <a:ext cx="16011849" cy="1741589"/>
            <a:chOff x="0" y="0"/>
            <a:chExt cx="21349132" cy="232211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5874065" y="458896"/>
              <a:ext cx="2720777" cy="1510640"/>
            </a:xfrm>
            <a:custGeom>
              <a:avLst/>
              <a:gdLst/>
              <a:ahLst/>
              <a:cxnLst/>
              <a:rect r="r" b="b" t="t" l="l"/>
              <a:pathLst>
                <a:path h="1510640" w="2720777">
                  <a:moveTo>
                    <a:pt x="0" y="0"/>
                  </a:moveTo>
                  <a:lnTo>
                    <a:pt x="2720777" y="0"/>
                  </a:lnTo>
                  <a:lnTo>
                    <a:pt x="2720777" y="1510640"/>
                  </a:lnTo>
                  <a:lnTo>
                    <a:pt x="0" y="15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2974120" y="800398"/>
              <a:ext cx="1917690" cy="827635"/>
            </a:xfrm>
            <a:custGeom>
              <a:avLst/>
              <a:gdLst/>
              <a:ahLst/>
              <a:cxnLst/>
              <a:rect r="r" b="b" t="t" l="l"/>
              <a:pathLst>
                <a:path h="827635" w="1917690">
                  <a:moveTo>
                    <a:pt x="0" y="0"/>
                  </a:moveTo>
                  <a:lnTo>
                    <a:pt x="1917691" y="0"/>
                  </a:lnTo>
                  <a:lnTo>
                    <a:pt x="1917691" y="827635"/>
                  </a:lnTo>
                  <a:lnTo>
                    <a:pt x="0" y="8276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42" id="42"/>
            <p:cNvSpPr/>
            <p:nvPr/>
          </p:nvSpPr>
          <p:spPr>
            <a:xfrm flipH="false" flipV="false" rot="0">
              <a:off x="15457558" y="751869"/>
              <a:ext cx="958787" cy="829512"/>
            </a:xfrm>
            <a:custGeom>
              <a:avLst/>
              <a:gdLst/>
              <a:ahLst/>
              <a:cxnLst/>
              <a:rect r="r" b="b" t="t" l="l"/>
              <a:pathLst>
                <a:path h="829512" w="958787">
                  <a:moveTo>
                    <a:pt x="0" y="0"/>
                  </a:moveTo>
                  <a:lnTo>
                    <a:pt x="958787" y="0"/>
                  </a:lnTo>
                  <a:lnTo>
                    <a:pt x="958787" y="829512"/>
                  </a:lnTo>
                  <a:lnTo>
                    <a:pt x="0" y="829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10368290" y="702921"/>
              <a:ext cx="2260785" cy="962483"/>
            </a:xfrm>
            <a:custGeom>
              <a:avLst/>
              <a:gdLst/>
              <a:ahLst/>
              <a:cxnLst/>
              <a:rect r="r" b="b" t="t" l="l"/>
              <a:pathLst>
                <a:path h="962483" w="2260785">
                  <a:moveTo>
                    <a:pt x="0" y="0"/>
                  </a:moveTo>
                  <a:lnTo>
                    <a:pt x="2260785" y="0"/>
                  </a:lnTo>
                  <a:lnTo>
                    <a:pt x="2260785" y="962483"/>
                  </a:lnTo>
                  <a:lnTo>
                    <a:pt x="0" y="962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33158" r="0" b="-43061"/>
              </a:stretch>
            </a:blip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322119" cy="2322119"/>
            </a:xfrm>
            <a:custGeom>
              <a:avLst/>
              <a:gdLst/>
              <a:ahLst/>
              <a:cxnLst/>
              <a:rect r="r" b="b" t="t" l="l"/>
              <a:pathLst>
                <a:path h="2322119" w="2322119">
                  <a:moveTo>
                    <a:pt x="0" y="0"/>
                  </a:moveTo>
                  <a:lnTo>
                    <a:pt x="2322119" y="0"/>
                  </a:lnTo>
                  <a:lnTo>
                    <a:pt x="2322119" y="2322119"/>
                  </a:lnTo>
                  <a:lnTo>
                    <a:pt x="0" y="23221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  <p:sp>
          <p:nvSpPr>
            <p:cNvPr name="AutoShape 45" id="45"/>
            <p:cNvSpPr/>
            <p:nvPr/>
          </p:nvSpPr>
          <p:spPr>
            <a:xfrm flipV="true">
              <a:off x="53951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6" id="46"/>
            <p:cNvSpPr/>
            <p:nvPr/>
          </p:nvSpPr>
          <p:spPr>
            <a:xfrm flipV="true">
              <a:off x="2500695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7" id="47"/>
            <p:cNvSpPr/>
            <p:nvPr/>
          </p:nvSpPr>
          <p:spPr>
            <a:xfrm flipV="true">
              <a:off x="5575373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8" id="48"/>
            <p:cNvSpPr/>
            <p:nvPr/>
          </p:nvSpPr>
          <p:spPr>
            <a:xfrm flipV="true">
              <a:off x="8676642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9" id="49"/>
            <p:cNvSpPr/>
            <p:nvPr/>
          </p:nvSpPr>
          <p:spPr>
            <a:xfrm flipV="true">
              <a:off x="10162290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0" id="50"/>
            <p:cNvSpPr/>
            <p:nvPr/>
          </p:nvSpPr>
          <p:spPr>
            <a:xfrm flipH="false" flipV="false" rot="0">
              <a:off x="13431975" y="800398"/>
              <a:ext cx="780983" cy="780983"/>
            </a:xfrm>
            <a:custGeom>
              <a:avLst/>
              <a:gdLst/>
              <a:ahLst/>
              <a:cxnLst/>
              <a:rect r="r" b="b" t="t" l="l"/>
              <a:pathLst>
                <a:path h="780983" w="780983">
                  <a:moveTo>
                    <a:pt x="0" y="0"/>
                  </a:moveTo>
                  <a:lnTo>
                    <a:pt x="780983" y="0"/>
                  </a:lnTo>
                  <a:lnTo>
                    <a:pt x="780983" y="780983"/>
                  </a:lnTo>
                  <a:lnTo>
                    <a:pt x="0" y="780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AutoShape 51" id="51"/>
            <p:cNvSpPr/>
            <p:nvPr/>
          </p:nvSpPr>
          <p:spPr>
            <a:xfrm flipV="true">
              <a:off x="12806875" y="747242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2" id="52"/>
            <p:cNvSpPr/>
            <p:nvPr/>
          </p:nvSpPr>
          <p:spPr>
            <a:xfrm flipH="false" flipV="false" rot="0">
              <a:off x="8952492" y="747242"/>
              <a:ext cx="933948" cy="933948"/>
            </a:xfrm>
            <a:custGeom>
              <a:avLst/>
              <a:gdLst/>
              <a:ahLst/>
              <a:cxnLst/>
              <a:rect r="r" b="b" t="t" l="l"/>
              <a:pathLst>
                <a:path h="933948" w="933948">
                  <a:moveTo>
                    <a:pt x="0" y="0"/>
                  </a:moveTo>
                  <a:lnTo>
                    <a:pt x="933948" y="0"/>
                  </a:lnTo>
                  <a:lnTo>
                    <a:pt x="933948" y="933948"/>
                  </a:lnTo>
                  <a:lnTo>
                    <a:pt x="0" y="9339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  <p:sp>
          <p:nvSpPr>
            <p:cNvPr name="AutoShape 53" id="53"/>
            <p:cNvSpPr/>
            <p:nvPr/>
          </p:nvSpPr>
          <p:spPr>
            <a:xfrm flipV="true">
              <a:off x="14835258" y="747242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4" id="54"/>
            <p:cNvSpPr/>
            <p:nvPr/>
          </p:nvSpPr>
          <p:spPr>
            <a:xfrm flipV="true">
              <a:off x="16863640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17106464" y="519332"/>
              <a:ext cx="1207255" cy="1207255"/>
            </a:xfrm>
            <a:custGeom>
              <a:avLst/>
              <a:gdLst/>
              <a:ahLst/>
              <a:cxnLst/>
              <a:rect r="r" b="b" t="t" l="l"/>
              <a:pathLst>
                <a:path h="1207255" w="1207255">
                  <a:moveTo>
                    <a:pt x="0" y="0"/>
                  </a:moveTo>
                  <a:lnTo>
                    <a:pt x="1207255" y="0"/>
                  </a:lnTo>
                  <a:lnTo>
                    <a:pt x="1207255" y="1207255"/>
                  </a:lnTo>
                  <a:lnTo>
                    <a:pt x="0" y="1207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  <p:sp>
          <p:nvSpPr>
            <p:cNvPr name="AutoShape 56" id="56"/>
            <p:cNvSpPr/>
            <p:nvPr/>
          </p:nvSpPr>
          <p:spPr>
            <a:xfrm flipV="true">
              <a:off x="18618519" y="676993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19142496" y="972606"/>
              <a:ext cx="1801531" cy="529035"/>
            </a:xfrm>
            <a:custGeom>
              <a:avLst/>
              <a:gdLst/>
              <a:ahLst/>
              <a:cxnLst/>
              <a:rect r="r" b="b" t="t" l="l"/>
              <a:pathLst>
                <a:path h="529035" w="1801531">
                  <a:moveTo>
                    <a:pt x="0" y="0"/>
                  </a:moveTo>
                  <a:lnTo>
                    <a:pt x="1801531" y="0"/>
                  </a:lnTo>
                  <a:lnTo>
                    <a:pt x="1801531" y="529035"/>
                  </a:lnTo>
                  <a:lnTo>
                    <a:pt x="0" y="5290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  <p:sp>
          <p:nvSpPr>
            <p:cNvPr name="AutoShape 58" id="58"/>
            <p:cNvSpPr/>
            <p:nvPr/>
          </p:nvSpPr>
          <p:spPr>
            <a:xfrm flipV="true">
              <a:off x="21323732" y="653889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59" id="59"/>
          <p:cNvSpPr txBox="true"/>
          <p:nvPr/>
        </p:nvSpPr>
        <p:spPr>
          <a:xfrm rot="30000">
            <a:off x="3325738" y="1157269"/>
            <a:ext cx="11450492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29292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INCUBE</a:t>
            </a:r>
            <a:r>
              <a:rPr lang="en-US" sz="9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5CE1E6">
                        <a:alpha val="100000"/>
                      </a:srgbClr>
                    </a:gs>
                  </a:gsLst>
                  <a:lin ang="0"/>
                </a:gradFill>
                <a:latin typeface="League Spartan"/>
                <a:ea typeface="League Spartan"/>
                <a:cs typeface="League Spartan"/>
                <a:sym typeface="League Spartan"/>
              </a:rPr>
              <a:t>X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874986" y="1109996"/>
            <a:ext cx="966235" cy="15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7"/>
              </a:lnSpc>
            </a:pP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THINK. </a:t>
            </a:r>
            <a:r>
              <a:rPr lang="en-US" b="true" sz="784" i="true">
                <a:solidFill>
                  <a:srgbClr val="39ACA1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BUILD.</a:t>
            </a: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 EVOLVE.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6686846" y="3554795"/>
            <a:ext cx="4726781" cy="382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Fill in the details below about your idea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33252" y="1453052"/>
            <a:ext cx="17221495" cy="9525"/>
            <a:chOff x="0" y="0"/>
            <a:chExt cx="17221505" cy="95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-31603">
            <a:off x="525527" y="1736596"/>
            <a:ext cx="17221495" cy="9525"/>
            <a:chOff x="0" y="0"/>
            <a:chExt cx="17221505" cy="95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313446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971985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2728375" y="3575071"/>
            <a:ext cx="4768592" cy="4217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247" t="-5733" r="-147202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355260" y="480122"/>
            <a:ext cx="15678945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 and limitations of existing solutions</a:t>
            </a:r>
          </a:p>
        </p:txBody>
      </p:sp>
      <p:sp>
        <p:nvSpPr>
          <p:cNvPr name="AutoShape 12" id="12"/>
          <p:cNvSpPr/>
          <p:nvPr/>
        </p:nvSpPr>
        <p:spPr>
          <a:xfrm>
            <a:off x="1411297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5400000">
            <a:off x="894069" y="3006023"/>
            <a:ext cx="1034456" cy="112075"/>
            <a:chOff x="0" y="0"/>
            <a:chExt cx="272449" cy="2951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72449" cy="29518"/>
            </a:xfrm>
            <a:custGeom>
              <a:avLst/>
              <a:gdLst/>
              <a:ahLst/>
              <a:cxnLst/>
              <a:rect r="r" b="b" t="t" l="l"/>
              <a:pathLst>
                <a:path h="29518" w="272449">
                  <a:moveTo>
                    <a:pt x="14759" y="0"/>
                  </a:moveTo>
                  <a:lnTo>
                    <a:pt x="257690" y="0"/>
                  </a:lnTo>
                  <a:cubicBezTo>
                    <a:pt x="261605" y="0"/>
                    <a:pt x="265359" y="1555"/>
                    <a:pt x="268127" y="4323"/>
                  </a:cubicBezTo>
                  <a:cubicBezTo>
                    <a:pt x="270894" y="7091"/>
                    <a:pt x="272449" y="10845"/>
                    <a:pt x="272449" y="14759"/>
                  </a:cubicBezTo>
                  <a:lnTo>
                    <a:pt x="272449" y="14759"/>
                  </a:lnTo>
                  <a:cubicBezTo>
                    <a:pt x="272449" y="18673"/>
                    <a:pt x="270894" y="22427"/>
                    <a:pt x="268127" y="25195"/>
                  </a:cubicBezTo>
                  <a:cubicBezTo>
                    <a:pt x="265359" y="27963"/>
                    <a:pt x="261605" y="29518"/>
                    <a:pt x="257690" y="29518"/>
                  </a:cubicBezTo>
                  <a:lnTo>
                    <a:pt x="14759" y="29518"/>
                  </a:lnTo>
                  <a:cubicBezTo>
                    <a:pt x="10845" y="29518"/>
                    <a:pt x="7091" y="27963"/>
                    <a:pt x="4323" y="25195"/>
                  </a:cubicBezTo>
                  <a:cubicBezTo>
                    <a:pt x="1555" y="22427"/>
                    <a:pt x="0" y="18673"/>
                    <a:pt x="0" y="14759"/>
                  </a:cubicBezTo>
                  <a:lnTo>
                    <a:pt x="0" y="14759"/>
                  </a:lnTo>
                  <a:cubicBezTo>
                    <a:pt x="0" y="10845"/>
                    <a:pt x="1555" y="7091"/>
                    <a:pt x="4323" y="4323"/>
                  </a:cubicBezTo>
                  <a:cubicBezTo>
                    <a:pt x="7091" y="1555"/>
                    <a:pt x="10845" y="0"/>
                    <a:pt x="14759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72449" cy="866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AutoShape 16" id="16"/>
          <p:cNvSpPr/>
          <p:nvPr/>
        </p:nvSpPr>
        <p:spPr>
          <a:xfrm>
            <a:off x="7069836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6549109" y="3002524"/>
            <a:ext cx="1034456" cy="119073"/>
            <a:chOff x="0" y="0"/>
            <a:chExt cx="272449" cy="3136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272449" cy="885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5400000">
            <a:off x="12215782" y="3001388"/>
            <a:ext cx="1034456" cy="121345"/>
            <a:chOff x="0" y="0"/>
            <a:chExt cx="272449" cy="3195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2449" cy="31959"/>
            </a:xfrm>
            <a:custGeom>
              <a:avLst/>
              <a:gdLst/>
              <a:ahLst/>
              <a:cxnLst/>
              <a:rect r="r" b="b" t="t" l="l"/>
              <a:pathLst>
                <a:path h="31959" w="272449">
                  <a:moveTo>
                    <a:pt x="15980" y="0"/>
                  </a:moveTo>
                  <a:lnTo>
                    <a:pt x="256470" y="0"/>
                  </a:lnTo>
                  <a:cubicBezTo>
                    <a:pt x="260708" y="0"/>
                    <a:pt x="264772" y="1684"/>
                    <a:pt x="267769" y="4680"/>
                  </a:cubicBezTo>
                  <a:cubicBezTo>
                    <a:pt x="270766" y="7677"/>
                    <a:pt x="272449" y="11742"/>
                    <a:pt x="272449" y="15980"/>
                  </a:cubicBezTo>
                  <a:lnTo>
                    <a:pt x="272449" y="15980"/>
                  </a:lnTo>
                  <a:cubicBezTo>
                    <a:pt x="272449" y="24805"/>
                    <a:pt x="265295" y="31959"/>
                    <a:pt x="256470" y="31959"/>
                  </a:cubicBezTo>
                  <a:lnTo>
                    <a:pt x="15980" y="31959"/>
                  </a:lnTo>
                  <a:cubicBezTo>
                    <a:pt x="7154" y="31959"/>
                    <a:pt x="0" y="24805"/>
                    <a:pt x="0" y="15980"/>
                  </a:cubicBezTo>
                  <a:lnTo>
                    <a:pt x="0" y="15980"/>
                  </a:lnTo>
                  <a:cubicBezTo>
                    <a:pt x="0" y="7154"/>
                    <a:pt x="7154" y="0"/>
                    <a:pt x="159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272449" cy="891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845052" y="2709807"/>
            <a:ext cx="3264102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76605" y="4127486"/>
            <a:ext cx="4000996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Your  Problem Statement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267053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Need and Background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Need and Background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745595" y="2487682"/>
            <a:ext cx="5009152" cy="101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Existing solutions and their limitations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346571" y="4203686"/>
            <a:ext cx="3573102" cy="1163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List existing solutions and their limitations</a:t>
            </a:r>
          </a:p>
          <a:p>
            <a:pPr algn="ctr">
              <a:lnSpc>
                <a:spcPts val="3080"/>
              </a:lnSpc>
            </a:pPr>
          </a:p>
        </p:txBody>
      </p:sp>
      <p:grpSp>
        <p:nvGrpSpPr>
          <p:cNvPr name="Group 29" id="29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30" id="30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32" id="32"/>
          <p:cNvSpPr/>
          <p:nvPr/>
        </p:nvSpPr>
        <p:spPr>
          <a:xfrm flipH="false" flipV="false" rot="0">
            <a:off x="17354217" y="343232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33252" y="1453052"/>
            <a:ext cx="17221495" cy="9525"/>
            <a:chOff x="0" y="0"/>
            <a:chExt cx="17221505" cy="95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-31603">
            <a:off x="525527" y="1736596"/>
            <a:ext cx="17221495" cy="9525"/>
            <a:chOff x="0" y="0"/>
            <a:chExt cx="17221505" cy="95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5411993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247" t="-5733" r="-147202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55260" y="480122"/>
            <a:ext cx="15205074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Our Solutions and it’s USP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55260" y="2544832"/>
            <a:ext cx="4243686" cy="1177206"/>
            <a:chOff x="0" y="0"/>
            <a:chExt cx="5658248" cy="156960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5277582" y="1188941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2" id="12"/>
            <p:cNvSpPr/>
            <p:nvPr/>
          </p:nvSpPr>
          <p:spPr>
            <a:xfrm>
              <a:off x="74717" y="137365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3" id="13"/>
            <p:cNvGrpSpPr/>
            <p:nvPr/>
          </p:nvGrpSpPr>
          <p:grpSpPr>
            <a:xfrm rot="5400000">
              <a:off x="-614921" y="614921"/>
              <a:ext cx="1379275" cy="149433"/>
              <a:chOff x="0" y="0"/>
              <a:chExt cx="272449" cy="29518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72449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72449">
                    <a:moveTo>
                      <a:pt x="14759" y="0"/>
                    </a:moveTo>
                    <a:lnTo>
                      <a:pt x="257690" y="0"/>
                    </a:lnTo>
                    <a:cubicBezTo>
                      <a:pt x="261605" y="0"/>
                      <a:pt x="265359" y="1555"/>
                      <a:pt x="268127" y="4323"/>
                    </a:cubicBezTo>
                    <a:cubicBezTo>
                      <a:pt x="270894" y="7091"/>
                      <a:pt x="272449" y="10845"/>
                      <a:pt x="272449" y="14759"/>
                    </a:cubicBezTo>
                    <a:lnTo>
                      <a:pt x="272449" y="14759"/>
                    </a:lnTo>
                    <a:cubicBezTo>
                      <a:pt x="272449" y="18673"/>
                      <a:pt x="270894" y="22427"/>
                      <a:pt x="268127" y="25195"/>
                    </a:cubicBezTo>
                    <a:cubicBezTo>
                      <a:pt x="265359" y="27963"/>
                      <a:pt x="261605" y="29518"/>
                      <a:pt x="257690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57150"/>
                <a:ext cx="272449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</p:grpSp>
      <p:sp>
        <p:nvSpPr>
          <p:cNvPr name="AutoShape 16" id="16"/>
          <p:cNvSpPr/>
          <p:nvPr/>
        </p:nvSpPr>
        <p:spPr>
          <a:xfrm>
            <a:off x="11509844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10989117" y="3002524"/>
            <a:ext cx="1034456" cy="119073"/>
            <a:chOff x="0" y="0"/>
            <a:chExt cx="272449" cy="3136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272449" cy="885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845052" y="2709807"/>
            <a:ext cx="361114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Solution Description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707061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Features &amp; USP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23" id="23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18244" y="625366"/>
            <a:ext cx="15705944" cy="557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86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Working of the Solution/Architecture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015234" y="4672502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113085" y="4811035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771366" y="4417495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69065" y="419109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Methodology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0400561" y="4672502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6498412" y="4811035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6156693" y="4417495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054392" y="4140255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Demo Images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15677943" y="4701077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1" id="21"/>
          <p:cNvSpPr/>
          <p:nvPr/>
        </p:nvSpPr>
        <p:spPr>
          <a:xfrm>
            <a:off x="11775794" y="4839610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5400000">
            <a:off x="11434075" y="4446070"/>
            <a:ext cx="646421" cy="149091"/>
            <a:chOff x="0" y="0"/>
            <a:chExt cx="170251" cy="3926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1211119" y="41688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Charts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28661" y="1836079"/>
            <a:ext cx="12211663" cy="1944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Methodology and Flowcharts ~removable text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Implementation Process, Technologies (languages, frameworks, devices etc.) ~removable text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Optional: Images, Demo screenshots, Demo link ~removable text</a:t>
            </a:r>
          </a:p>
          <a:p>
            <a:pPr algn="l">
              <a:lnSpc>
                <a:spcPts val="3080"/>
              </a:lnSpc>
            </a:pPr>
          </a:p>
        </p:txBody>
      </p:sp>
      <p:grpSp>
        <p:nvGrpSpPr>
          <p:cNvPr name="Group 27" id="27"/>
          <p:cNvGrpSpPr/>
          <p:nvPr/>
        </p:nvGrpSpPr>
        <p:grpSpPr>
          <a:xfrm rot="0">
            <a:off x="1028661" y="1883704"/>
            <a:ext cx="1156034" cy="110014"/>
            <a:chOff x="0" y="0"/>
            <a:chExt cx="304470" cy="2897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304470" cy="8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28661" y="3725442"/>
            <a:ext cx="1156034" cy="110014"/>
            <a:chOff x="0" y="0"/>
            <a:chExt cx="304470" cy="2897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57150"/>
              <a:ext cx="304470" cy="8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4667372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Target Users and Market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411211" y="2963553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509062" y="3102086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1167344" y="2708547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50077" y="2482144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Market Scope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5731950" y="2963553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11829801" y="3102086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11488082" y="2708547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1366934" y="2504791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Target Users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181426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Revenue Model and Business Strategy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411211" y="2630739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509062" y="2769272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1167344" y="2375733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50077" y="21493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Revenue Model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4091851" y="2630739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10189702" y="2769272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9847983" y="2375733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0030717" y="21493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Business Strategy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381582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Impact and Benefits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4084549" y="2843150"/>
            <a:ext cx="405903" cy="405903"/>
          </a:xfrm>
          <a:custGeom>
            <a:avLst/>
            <a:gdLst/>
            <a:ahLst/>
            <a:cxnLst/>
            <a:rect r="r" b="b" t="t" l="l"/>
            <a:pathLst>
              <a:path h="405903" w="405903">
                <a:moveTo>
                  <a:pt x="0" y="0"/>
                </a:moveTo>
                <a:lnTo>
                  <a:pt x="405902" y="0"/>
                </a:lnTo>
                <a:lnTo>
                  <a:pt x="405902" y="405903"/>
                </a:lnTo>
                <a:lnTo>
                  <a:pt x="0" y="40590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237657" y="2377106"/>
            <a:ext cx="13049843" cy="932088"/>
            <a:chOff x="0" y="0"/>
            <a:chExt cx="17399790" cy="1242784"/>
          </a:xfrm>
        </p:grpSpPr>
        <p:sp>
          <p:nvSpPr>
            <p:cNvPr name="AutoShape 10" id="10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689022" y="6383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Social / Environmental / Governmental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95448" y="3353655"/>
            <a:ext cx="9327262" cy="382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the social / environmental/ governmental impact of your solution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37657" y="5143500"/>
            <a:ext cx="13049843" cy="932088"/>
            <a:chOff x="0" y="0"/>
            <a:chExt cx="17399790" cy="1242784"/>
          </a:xfrm>
        </p:grpSpPr>
        <p:sp>
          <p:nvSpPr>
            <p:cNvPr name="AutoShape 17" id="17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689022" y="6383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How solution addresses the problem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633282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Future Plan and Feasibilty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51770" y="2127068"/>
            <a:ext cx="5016171" cy="789171"/>
            <a:chOff x="0" y="0"/>
            <a:chExt cx="6688227" cy="10522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163979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211980" y="856272"/>
              <a:ext cx="5951998" cy="5449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243645" y="331553"/>
              <a:ext cx="861895" cy="198788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48733"/>
              <a:ext cx="6688227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Challenges and Mitigation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22869" y="4358546"/>
            <a:ext cx="9974903" cy="784954"/>
            <a:chOff x="0" y="0"/>
            <a:chExt cx="13299870" cy="10466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919204" y="665939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7" id="17"/>
            <p:cNvSpPr/>
            <p:nvPr/>
          </p:nvSpPr>
          <p:spPr>
            <a:xfrm>
              <a:off x="567135" y="856272"/>
              <a:ext cx="12352069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111510" y="331553"/>
              <a:ext cx="861895" cy="198788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0" y="19051"/>
              <a:ext cx="13299870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Economic Viability and Commercialisation Scalability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72616" y="6609376"/>
            <a:ext cx="5890549" cy="789171"/>
            <a:chOff x="0" y="0"/>
            <a:chExt cx="7854065" cy="105222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7473399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24" id="24"/>
            <p:cNvSpPr/>
            <p:nvPr/>
          </p:nvSpPr>
          <p:spPr>
            <a:xfrm>
              <a:off x="1521400" y="856272"/>
              <a:ext cx="5951998" cy="5449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5" id="25"/>
            <p:cNvGrpSpPr/>
            <p:nvPr/>
          </p:nvGrpSpPr>
          <p:grpSpPr>
            <a:xfrm rot="5400000">
              <a:off x="1065775" y="331553"/>
              <a:ext cx="861895" cy="198788"/>
              <a:chOff x="0" y="0"/>
              <a:chExt cx="170251" cy="3926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897"/>
              <a:ext cx="6688227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Future Scope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562672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Research and References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DAHXNYZDUS0</dc:identifier>
  <dcterms:modified xsi:type="dcterms:W3CDTF">2011-08-01T06:04:30Z</dcterms:modified>
  <cp:revision>1</cp:revision>
  <dc:title>Incubex ppt format product track</dc:title>
</cp:coreProperties>
</file>